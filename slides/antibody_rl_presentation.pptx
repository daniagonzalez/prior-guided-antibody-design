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A1A1A"/>
                </a:solidFill>
                <a:latin typeface="Palatino Linotype"/>
              </a:rPr>
              <a:t>Reinforcement Learning of Antibody CDRH3 Loops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2148840"/>
            <a:ext cx="1463040" cy="279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37033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8A8A8A"/>
                </a:solidFill>
                <a:latin typeface="Palatino Linotype"/>
              </a:rPr>
              <a:t>A multimodal developability and binding judge for antibody design</a:t>
            </a:r>
          </a:p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8A8A8A"/>
                </a:solidFill>
                <a:latin typeface="Palatino Linotype"/>
              </a:rPr>
              <a:t>IgLM prior + REINVENT agent, five oracles across sequence and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126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8A8A8A"/>
                </a:solidFill>
                <a:latin typeface="Palatino Linotype"/>
              </a:rPr>
              <a:t>Daniela A. Gonzalez  ·  antibody RL project  ·  reproducible CPU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Palatino Linotype"/>
              </a:rP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822960" cy="279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Antibody specificity is largely set by the CDRH3 loop on a fixed framework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Language models (IgLM) generate plausible CDRH3 but optimize no objective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Reinforcement learning (REINVENT) can steer them, as AB-Gen showed for HER2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But developability matters as much as binding, and it is multimodal: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8A8A8A"/>
                </a:solidFill>
                <a:latin typeface="Palatino Linotype"/>
              </a:rPr>
              <a:t>–  sequence rules (liabilities, charge, humanness)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8A8A8A"/>
                </a:solidFill>
                <a:latin typeface="Palatino Linotype"/>
              </a:rPr>
              <a:t>–  structural surface properties (TAP: hydrophobic and charge patches)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Open question: when does RL actually help?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Palatino Linotype"/>
              </a:rPr>
              <a:t>The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822960" cy="279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Frozen IgLM prior generates CDRH3; a trainable copy is the RL agent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REINVENT augmented likelihood: pull the agent toward log P_prior + sigma S(x)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8A8A8A"/>
                </a:solidFill>
                <a:latin typeface="Palatino Linotype"/>
              </a:rPr>
              <a:t>–  The prior term is a leash that keeps sequences antibody-like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Five oracles across two modalities score each candidate: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8A8A8A"/>
                </a:solidFill>
                <a:latin typeface="Palatino Linotype"/>
              </a:rPr>
              <a:t>–  sequence: liabilities, physicochemistry, AbLang2 humanness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8A8A8A"/>
                </a:solidFill>
                <a:latin typeface="Palatino Linotype"/>
              </a:rPr>
              <a:t>–  structure: TAP-style metrics on an ABodyBuilder2 model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8A8A8A"/>
                </a:solidFill>
                <a:latin typeface="Palatino Linotype"/>
              </a:rPr>
              <a:t>–  binding: HER2 classifier from the Mason trastuzumab DMS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Everything runs on CPU (IgLM 12.9M checkpoint)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2636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A8A8A"/>
                </a:solidFill>
                <a:latin typeface="Palatino Linotype"/>
              </a:rPr>
              <a:t>Following AB-Gen (Xu 2023) and REINVENT (Olivecrona 2017).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Palatino Linotype"/>
              </a:rPr>
              <a:t>Headline: RL optimizes only where the reward has headroom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097280"/>
            <a:ext cx="822960" cy="279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oracle_ab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927" y="1371600"/>
            <a:ext cx="7863840" cy="30128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612648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8A8A8A"/>
                </a:solidFill>
                <a:latin typeface="Palatino Linotype"/>
              </a:rPr>
              <a:t>RL raises HER2 binding 0.28 to 0.78; the saturated developability reward stays flat.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Palatino Linotype"/>
              </a:rPr>
              <a:t>The loop is sound: a proxy control proves it optimizes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097280"/>
            <a:ext cx="822960" cy="279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1371600"/>
            <a:ext cx="10058400" cy="28916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612648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8A8A8A"/>
                </a:solidFill>
                <a:latin typeface="Palatino Linotype"/>
              </a:rPr>
              <a:t>Tyrosine-fraction proxy rises 0.11 to 0.54; developability is flat; the agent departs the prior (KL).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Palatino Linotype"/>
              </a:rPr>
              <a:t>Sequence and structure are orthogonal modalities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097280"/>
            <a:ext cx="822960" cy="279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cascade_fil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847" y="1371600"/>
            <a:ext cx="9144000" cy="359262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612648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8A8A8A"/>
                </a:solidFill>
                <a:latin typeface="Palatino Linotype"/>
              </a:rPr>
              <a:t>Two-stage cascade (120 to 15 to TAP filter). Sequence and structure scores are uncorrelated (r about 0).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A1A1A"/>
                </a:solidFill>
                <a:latin typeface="Palatino Linotype"/>
              </a:rPr>
              <a:t>The binding oracle reproduces the benchmark and is explainable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097280"/>
            <a:ext cx="822960" cy="279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g_her2_x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808" y="1371600"/>
            <a:ext cx="7498079" cy="42015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612648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1">
                <a:solidFill>
                  <a:srgbClr val="8A8A8A"/>
                </a:solidFill>
                <a:latin typeface="Palatino Linotype"/>
              </a:rPr>
              <a:t>one-hot AUC 0.911 (matches Mason ~0.91). Saturation mutagenesis: wild-type trastuzumab sits at the optimum.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Palatino Linotype"/>
              </a:rPr>
              <a:t>Key numbers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822960" cy="279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Binding oracle (Mason HER2 DMS, 36,391 sequences):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8A8A8A"/>
                </a:solidFill>
                <a:latin typeface="Palatino Linotype"/>
              </a:rPr>
              <a:t>–  one-hot MLP AUC 0.911  ·  ESM2 length-agnostic AUC 0.859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Oracle ablation on the IgLM prior pool: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8A8A8A"/>
                </a:solidFill>
                <a:latin typeface="Palatino Linotype"/>
              </a:rPr>
              <a:t>–  developability 0.755 (saturated)  vs  HER2 binding 0.256 (headroom)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8A8A8A"/>
                </a:solidFill>
                <a:latin typeface="Palatino Linotype"/>
              </a:rPr>
              <a:t>–  RL against HER2 binding: 0.284 to peak 0.867 to 0.782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AB-Gen benchmark (agent vs prior):</a:t>
            </a:r>
          </a:p>
          <a:p>
            <a:pPr lvl="1">
              <a:lnSpc>
                <a:spcPct val="115000"/>
              </a:lnSpc>
              <a:spcAft>
                <a:spcPts val="800"/>
              </a:spcAft>
            </a:pPr>
            <a:r>
              <a:rPr sz="1700">
                <a:solidFill>
                  <a:srgbClr val="8A8A8A"/>
                </a:solidFill>
                <a:latin typeface="Palatino Linotype"/>
              </a:rPr>
              <a:t>–  uniqueness 1.00, novelty 1.00, diversity 0.81, success 0.53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Palatino Linotype"/>
              </a:rPr>
              <a:t>Honest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822960" cy="279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IgLM 12.9M checkpoint, not 558M (the reason it runs on CPU)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TAP-style reimplementation from the paper (official code not public)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Option A pairs a germline VL the model did not generate; B loses SFvCSP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Binding oracle is a transferred proxy, not a validated affinity model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Reward hacking (length collapse) observed and controlled by the prior leash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2636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A8A8A"/>
                </a:solidFill>
                <a:latin typeface="Palatino Linotype"/>
              </a:rPr>
              <a:t>A reproducible pipeline and controlled proxies, not a therapeutic.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A1A1A"/>
                </a:solidFill>
                <a:latin typeface="Palatino Linotype"/>
              </a:rPr>
              <a:t>Path to a stronger preprint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" y="1143000"/>
            <a:ext cx="822960" cy="27940"/>
          </a:xfrm>
          <a:prstGeom prst="rect">
            <a:avLst/>
          </a:prstGeom>
          <a:solidFill>
            <a:srgbClr val="2166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424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Structural validation: co-fold top RL binders onto HER2 (PDB 1N8Z)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Multiple frameworks via ANARCI/IMGT for a controlled comparison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Affinity (not classification) binding oracle for finer headroom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Learning curves with moving-average overlay; larger batch on GPU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Palatino Linotype"/>
              </a:rPr>
              <a:t>•  Six notebooks, src modules, trained models and histories all provided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2636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8A8A8A"/>
                </a:solidFill>
                <a:latin typeface="Palatino Linotype"/>
              </a:rPr>
              <a:t>See README_PROJECT.md for the full index.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