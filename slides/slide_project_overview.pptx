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Palatino Linotype"/>
              </a:rPr>
              <a:t>Prior-guided RL for antibody CDRH3 design —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7498079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A frozen IgLM prior proposes loops; a multi-oracle evaluator scores them; REINVENT-style RL optimizes the generator — one objective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2926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1 · GENERATE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417320"/>
            <a:ext cx="4754880" cy="2926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2 · EVALUATE  (multi-oracle judge)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1417320"/>
            <a:ext cx="3108960" cy="29260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Palatino Linotype"/>
              </a:rPr>
              <a:t>3 · OPTIMIZE &amp; ANALYZE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743200" cy="1051560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A1A"/>
                </a:solidFill>
                <a:latin typeface="Palatino Linotype"/>
              </a:rPr>
              <a:t>IgLM prior (frozen)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infills CDRH3 on a fixed heavy framework · 12.9M params · nb01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274320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A1A1A"/>
                </a:solidFill>
                <a:latin typeface="Palatino Linotype"/>
              </a:rPr>
              <a:t>CDRH3 loops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length 8-17 · the design space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2926080"/>
            <a:ext cx="0" cy="18288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1874519"/>
            <a:ext cx="47548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2166AC"/>
                </a:solidFill>
                <a:latin typeface="Palatino Linotype"/>
              </a:rPr>
              <a:t>Sequence oracles  (nb02)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487168"/>
            <a:ext cx="1481328" cy="658368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Palatino Linotype"/>
              </a:rPr>
              <a:t>humanness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AbLang2 likelihood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2487168"/>
            <a:ext cx="1481328" cy="658368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Palatino Linotype"/>
              </a:rPr>
              <a:t>liability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motif penalties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1696" y="2487168"/>
            <a:ext cx="1517904" cy="658368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Palatino Linotype"/>
              </a:rPr>
              <a:t>physchem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charge + GRAVY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291840"/>
            <a:ext cx="228600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8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9A7830"/>
                </a:solidFill>
                <a:latin typeface="Palatino Linotype"/>
              </a:rPr>
              <a:t>Structure — TAP-style  (nb03)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1A1A1A"/>
                </a:solidFill>
                <a:latin typeface="Palatino Linotype"/>
              </a:rPr>
              <a:t>ABodyBuilder2 fold + PSH/PPC/PNC · developability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291840"/>
            <a:ext cx="228600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A9850"/>
                </a:solidFill>
                <a:latin typeface="Palatino Linotype"/>
              </a:rPr>
              <a:t>Binding — HER2  (nb06)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1A1A1A"/>
                </a:solidFill>
                <a:latin typeface="Palatino Linotype"/>
              </a:rPr>
              <a:t>Mason DMS · one-hot AUC 0.91 / ESM2 AUC 0.86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297680"/>
            <a:ext cx="4754880" cy="713232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A1A"/>
                </a:solidFill>
                <a:latin typeface="Palatino Linotype"/>
              </a:rPr>
              <a:t>Reward  S(x) = 0.5·human + 0.3·liab + 0.2·physchem   (nb04)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wrapped in augmented likelihood  log P* = log P_prior + σ·S(x)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4160520"/>
            <a:ext cx="0" cy="13716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46120" y="2377440"/>
            <a:ext cx="274320" cy="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1874519"/>
            <a:ext cx="3108960" cy="841248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A1A"/>
                </a:solidFill>
                <a:latin typeface="Palatino Linotype"/>
              </a:rPr>
              <a:t>RL loop — REINVENT  (nb05)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sample → score → augmented-likelihood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834640"/>
            <a:ext cx="1481328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B2182B"/>
                </a:solidFill>
                <a:latin typeface="Palatino Linotype"/>
              </a:rPr>
              <a:t>developability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reward flat 0.78 saturated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2834640"/>
            <a:ext cx="1490472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9850"/>
                </a:solidFill>
                <a:latin typeface="Palatino Linotype"/>
              </a:rPr>
              <a:t>binding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0.30 → 0.80 headline 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715768"/>
            <a:ext cx="0" cy="118872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81360" y="2715768"/>
            <a:ext cx="0" cy="118872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49640" y="3886200"/>
            <a:ext cx="3108960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Palatino Linotype"/>
              </a:rPr>
              <a:t>XAI — saturation mutagenesis  (nb06)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which CDRH3 position drives binding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562856"/>
            <a:ext cx="3108960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Palatino Linotype"/>
              </a:rPr>
              <a:t>Multimodal judge  (nb08)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1A1A1A"/>
                </a:solidFill>
                <a:latin typeface="Palatino Linotype"/>
              </a:rPr>
              <a:t>seq+structure fusion: structure adds no binding signal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275320" y="3291840"/>
            <a:ext cx="274320" cy="100584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20440" y="5138928"/>
            <a:ext cx="475488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555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555555"/>
                </a:solidFill>
                <a:latin typeface="Palatino Linotype"/>
              </a:rPr>
              <a:t>NEXT — Multi-objective RL  (nb07)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1A1A1A"/>
                </a:solidFill>
                <a:latin typeface="Palatino Linotype"/>
              </a:rPr>
              <a:t>combine all 4 objectives (normalized) → Pareto trade-off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97880" y="5010912"/>
            <a:ext cx="0" cy="128016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sz="1000" b="1">
                <a:solidFill>
                  <a:srgbClr val="C8A25A"/>
                </a:solidFill>
                <a:latin typeface="Palatino Linotype"/>
              </a:rPr>
              <a:t>KEY RESULTS   </a:t>
            </a:r>
            <a:r>
              <a:rPr sz="1000">
                <a:solidFill>
                  <a:srgbClr val="FFFFFF"/>
                </a:solidFill>
                <a:latin typeface="Palatino Linotype"/>
              </a:rPr>
              <a:t>binding RL 0.30→0.80 (3 seeds)   ·   developability saturated (controlled comparison)   ·    3 sequence oracles orthogonal (max |r|≈0.14); sequence vs structure r≈0   ·   structure adds no binding signal over sequence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C8A25A"/>
                </a:solidFill>
                <a:latin typeface="Palatino Linotype"/>
              </a:rPr>
              <a:t>STACK   </a:t>
            </a:r>
            <a:r>
              <a:rPr sz="850">
                <a:solidFill>
                  <a:srgbClr val="E8E8E8"/>
                </a:solidFill>
                <a:latin typeface="Consolas"/>
              </a:rPr>
              <a:t>IgLM · AbLang2 · ABodyBuilder2 · ANARCI · ESM2 · REINVENT augmented likelihood · all CPU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