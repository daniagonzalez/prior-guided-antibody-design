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oraculo de binding entrene dos clasificadores sobre el mismo dataset de Mason -un deep mutational scan del CDRH3 de trastuzumab contra HER2, unas treinta y seis mil secuencias de largo diez, deduplicadas y etiquetadas binder o no binder. El primero es un one-hot mas un MLP: la entrada es un one-hot de diez por veinte, doscientas features, una red con capas ocultas de ciento veintiocho y sesenta y cuatro. Reproduce el benchmark publicado, AUC de test cero coma noventa y uno. Un detalle honesto: puse sesenta iteraciones maximas pero paro en quince por early stopping interno, o sea el validation loss dejo de mejorar. Este modelo NO se usa en el loop porque su entrada es de largo fijo diez. El segundo es el que si entra al loop: tomo embeddings de ESM2 de ocho millones de parametros, hago mean-pooling sobre los tokens de residuo para obtener un vector de trescientos veinte dimensiones, y encima entreno una regresion logistica. AUC cero coma ochenta y seis. La razon de usar este es que es agnostico al largo: puede puntuar los loops de once a trece residuos que genera el generador, cosa que el one-hot no puede. Sobre por que la capa seis: el modelo tiene exactamente seis capas -el nombre lo dice, te seis-, asi que la capa seis es la ultima, la representacion mas contextualizada. No es un hiperparametro tuneado, es la salida final del transformer. Sondear capa por capa seria una ablation natural que no hice. Estrategicamente, tener dos modelos separa dos cosas: uno demuestra que reproduzco un resultado publicado -credibilidad-, el otro es la herramienta operativa que se integra al pipeline. Y soy explicita en que el ESM aplicado a otro framework y a largos distintos es un proxy transferido de binding, no un predictor exacto.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200"/>
              </a:spcAft>
            </a:pPr>
            <a:r>
              <a:rPr sz="2100" b="1" i="0">
                <a:solidFill>
                  <a:srgbClr val="1A1A1A"/>
                </a:solidFill>
                <a:latin typeface="Palatino Linotype"/>
              </a:rPr>
              <a:t>Two HER2-binding classifiers — same data, different design</a:t>
            </a:r>
          </a:p>
        </p:txBody>
      </p:sp>
      <p:sp>
        <p:nvSpPr>
          <p:cNvPr id="3" name="Rectangle 2"/>
          <p:cNvSpPr/>
          <p:nvPr/>
        </p:nvSpPr>
        <p:spPr>
          <a:xfrm>
            <a:off x="502920" y="914400"/>
            <a:ext cx="6217920"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69264"/>
            <a:ext cx="11155680" cy="365760"/>
          </a:xfrm>
          <a:prstGeom prst="rect">
            <a:avLst/>
          </a:prstGeom>
          <a:noFill/>
        </p:spPr>
        <p:txBody>
          <a:bodyPr wrap="square">
            <a:spAutoFit/>
          </a:bodyPr>
          <a:lstStyle/>
          <a:p>
            <a:pPr algn="l">
              <a:lnSpc>
                <a:spcPct val="100000"/>
              </a:lnSpc>
              <a:spcAft>
                <a:spcPts val="200"/>
              </a:spcAft>
            </a:pPr>
            <a:r>
              <a:rPr sz="1050" b="0" i="1">
                <a:solidFill>
                  <a:srgbClr val="555555"/>
                </a:solidFill>
                <a:latin typeface="Palatino Linotype"/>
              </a:rPr>
              <a:t>Trained on Mason DMS: 36,391 unique length-10 CDRH3 (11,277 binders / 25,114 non), deduplicated, 20 standard AAs. One reproduces the benchmark; one drives the loop.</a:t>
            </a:r>
          </a:p>
        </p:txBody>
      </p:sp>
      <p:sp>
        <p:nvSpPr>
          <p:cNvPr id="5" name="Rounded Rectangle 4"/>
          <p:cNvSpPr/>
          <p:nvPr/>
        </p:nvSpPr>
        <p:spPr>
          <a:xfrm>
            <a:off x="502920" y="1508760"/>
            <a:ext cx="5486400" cy="3200400"/>
          </a:xfrm>
          <a:prstGeom prst="roundRect">
            <a:avLst/>
          </a:prstGeom>
          <a:solidFill>
            <a:srgbClr val="FFFFFF"/>
          </a:solidFill>
          <a:ln w="17780">
            <a:solidFill>
              <a:srgbClr val="B2182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tIns="91440"/>
          <a:lstStyle/>
          <a:p>
            <a:pPr algn="ctr"/>
            <a:r>
              <a:rPr sz="1300" b="1">
                <a:solidFill>
                  <a:srgbClr val="B2182B"/>
                </a:solidFill>
                <a:latin typeface="Palatino Linotype"/>
              </a:rPr>
              <a:t>One-hot + MLP  —  benchmark</a:t>
            </a:r>
          </a:p>
          <a:p>
            <a:pPr>
              <a:spcBef>
                <a:spcPts val="250"/>
              </a:spcBef>
            </a:pPr>
            <a:r>
              <a:rPr sz="950" b="1">
                <a:solidFill>
                  <a:srgbClr val="1A1A1A"/>
                </a:solidFill>
                <a:latin typeface="Palatino Linotype"/>
              </a:rPr>
              <a:t>input  </a:t>
            </a:r>
            <a:r>
              <a:rPr sz="900">
                <a:solidFill>
                  <a:srgbClr val="555555"/>
                </a:solidFill>
                <a:latin typeface="Consolas"/>
              </a:rPr>
              <a:t>10×20 one-hot = 200 features (fixed 10-mer)</a:t>
            </a:r>
          </a:p>
          <a:p>
            <a:pPr>
              <a:spcBef>
                <a:spcPts val="250"/>
              </a:spcBef>
            </a:pPr>
            <a:r>
              <a:rPr sz="950" b="1">
                <a:solidFill>
                  <a:srgbClr val="1A1A1A"/>
                </a:solidFill>
                <a:latin typeface="Palatino Linotype"/>
              </a:rPr>
              <a:t>model  </a:t>
            </a:r>
            <a:r>
              <a:rPr sz="900">
                <a:solidFill>
                  <a:srgbClr val="555555"/>
                </a:solidFill>
                <a:latin typeface="Consolas"/>
              </a:rPr>
              <a:t>sklearn MLPClassifier</a:t>
            </a:r>
          </a:p>
          <a:p>
            <a:pPr>
              <a:spcBef>
                <a:spcPts val="250"/>
              </a:spcBef>
            </a:pPr>
            <a:r>
              <a:rPr sz="950" b="1">
                <a:solidFill>
                  <a:srgbClr val="1A1A1A"/>
                </a:solidFill>
                <a:latin typeface="Palatino Linotype"/>
              </a:rPr>
              <a:t>hidden  </a:t>
            </a:r>
            <a:r>
              <a:rPr sz="900">
                <a:solidFill>
                  <a:srgbClr val="555555"/>
                </a:solidFill>
                <a:latin typeface="Consolas"/>
              </a:rPr>
              <a:t>(128, 64) · ReLU · [200→128→64→1]</a:t>
            </a:r>
          </a:p>
          <a:p>
            <a:pPr>
              <a:spcBef>
                <a:spcPts val="250"/>
              </a:spcBef>
            </a:pPr>
            <a:r>
              <a:rPr sz="950" b="1">
                <a:solidFill>
                  <a:srgbClr val="1A1A1A"/>
                </a:solidFill>
                <a:latin typeface="Palatino Linotype"/>
              </a:rPr>
              <a:t>optim  </a:t>
            </a:r>
            <a:r>
              <a:rPr sz="900">
                <a:solidFill>
                  <a:srgbClr val="555555"/>
                </a:solidFill>
                <a:latin typeface="Consolas"/>
              </a:rPr>
              <a:t>Adam · lr 1e-3 · L2 alpha 1e-4</a:t>
            </a:r>
          </a:p>
          <a:p>
            <a:pPr>
              <a:spcBef>
                <a:spcPts val="250"/>
              </a:spcBef>
            </a:pPr>
            <a:r>
              <a:rPr sz="950" b="1">
                <a:solidFill>
                  <a:srgbClr val="1A1A1A"/>
                </a:solidFill>
                <a:latin typeface="Palatino Linotype"/>
              </a:rPr>
              <a:t>max_iter  </a:t>
            </a:r>
            <a:r>
              <a:rPr sz="900">
                <a:solidFill>
                  <a:srgbClr val="555555"/>
                </a:solidFill>
                <a:latin typeface="Consolas"/>
              </a:rPr>
              <a:t>60 → stopped at 15 (early stop) · loss 0.215</a:t>
            </a:r>
          </a:p>
          <a:p>
            <a:pPr>
              <a:spcBef>
                <a:spcPts val="250"/>
              </a:spcBef>
            </a:pPr>
            <a:r>
              <a:rPr sz="950" b="1">
                <a:solidFill>
                  <a:srgbClr val="1A1A1A"/>
                </a:solidFill>
                <a:latin typeface="Palatino Linotype"/>
              </a:rPr>
              <a:t>seed  </a:t>
            </a:r>
            <a:r>
              <a:rPr sz="900">
                <a:solidFill>
                  <a:srgbClr val="555555"/>
                </a:solidFill>
                <a:latin typeface="Consolas"/>
              </a:rPr>
              <a:t>random_state = 0</a:t>
            </a:r>
          </a:p>
          <a:p>
            <a:pPr>
              <a:spcBef>
                <a:spcPts val="500"/>
              </a:spcBef>
            </a:pPr>
            <a:r>
              <a:rPr sz="1100" b="1">
                <a:solidFill>
                  <a:srgbClr val="B2182B"/>
                </a:solidFill>
                <a:latin typeface="Palatino Linotype"/>
              </a:rPr>
              <a:t>test AUC 0.911 · AUPRC 0.842   (reproduces Mason CNN ~0.91)</a:t>
            </a:r>
          </a:p>
        </p:txBody>
      </p:sp>
      <p:sp>
        <p:nvSpPr>
          <p:cNvPr id="6" name="Rounded Rectangle 5"/>
          <p:cNvSpPr/>
          <p:nvPr/>
        </p:nvSpPr>
        <p:spPr>
          <a:xfrm>
            <a:off x="6172200" y="1508760"/>
            <a:ext cx="5532120" cy="3200400"/>
          </a:xfrm>
          <a:prstGeom prst="roundRect">
            <a:avLst/>
          </a:prstGeom>
          <a:solidFill>
            <a:srgbClr val="FFFFFF"/>
          </a:solidFill>
          <a:ln w="17780">
            <a:solidFill>
              <a:srgbClr val="1A985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tIns="91440"/>
          <a:lstStyle/>
          <a:p>
            <a:pPr algn="ctr"/>
            <a:r>
              <a:rPr sz="1300" b="1">
                <a:solidFill>
                  <a:srgbClr val="1A9850"/>
                </a:solidFill>
                <a:latin typeface="Palatino Linotype"/>
              </a:rPr>
              <a:t>ESM2-8M + LogReg  —  used in the loop</a:t>
            </a:r>
          </a:p>
          <a:p>
            <a:pPr>
              <a:spcBef>
                <a:spcPts val="250"/>
              </a:spcBef>
            </a:pPr>
            <a:r>
              <a:rPr sz="950" b="1">
                <a:solidFill>
                  <a:srgbClr val="1A1A1A"/>
                </a:solidFill>
                <a:latin typeface="Palatino Linotype"/>
              </a:rPr>
              <a:t>embedding  </a:t>
            </a:r>
            <a:r>
              <a:rPr sz="900">
                <a:solidFill>
                  <a:srgbClr val="555555"/>
                </a:solidFill>
                <a:latin typeface="Consolas"/>
              </a:rPr>
              <a:t>ESM2-8M (esm2_t6_8M) · LAST layer (6)</a:t>
            </a:r>
          </a:p>
          <a:p>
            <a:pPr>
              <a:spcBef>
                <a:spcPts val="250"/>
              </a:spcBef>
            </a:pPr>
            <a:r>
              <a:rPr sz="950" b="1">
                <a:solidFill>
                  <a:srgbClr val="1A1A1A"/>
                </a:solidFill>
                <a:latin typeface="Palatino Linotype"/>
              </a:rPr>
              <a:t>feature  </a:t>
            </a:r>
            <a:r>
              <a:rPr sz="900">
                <a:solidFill>
                  <a:srgbClr val="555555"/>
                </a:solidFill>
                <a:latin typeface="Consolas"/>
              </a:rPr>
              <a:t>mean-pool residue tokens → 320-d vector</a:t>
            </a:r>
          </a:p>
          <a:p>
            <a:pPr>
              <a:spcBef>
                <a:spcPts val="250"/>
              </a:spcBef>
            </a:pPr>
            <a:r>
              <a:rPr sz="950" b="1">
                <a:solidFill>
                  <a:srgbClr val="1A1A1A"/>
                </a:solidFill>
                <a:latin typeface="Palatino Linotype"/>
              </a:rPr>
              <a:t>model  </a:t>
            </a:r>
            <a:r>
              <a:rPr sz="900">
                <a:solidFill>
                  <a:srgbClr val="555555"/>
                </a:solidFill>
                <a:latin typeface="Consolas"/>
              </a:rPr>
              <a:t>sklearn LogisticRegression · coef (1, 320)</a:t>
            </a:r>
          </a:p>
          <a:p>
            <a:pPr>
              <a:spcBef>
                <a:spcPts val="250"/>
              </a:spcBef>
            </a:pPr>
            <a:r>
              <a:rPr sz="950" b="1">
                <a:solidFill>
                  <a:srgbClr val="1A1A1A"/>
                </a:solidFill>
                <a:latin typeface="Palatino Linotype"/>
              </a:rPr>
              <a:t>reg  </a:t>
            </a:r>
            <a:r>
              <a:rPr sz="900">
                <a:solidFill>
                  <a:srgbClr val="555555"/>
                </a:solidFill>
                <a:latin typeface="Consolas"/>
              </a:rPr>
              <a:t>C = 1.0 · lbfgs · max_iter 1000</a:t>
            </a:r>
          </a:p>
          <a:p>
            <a:pPr>
              <a:spcBef>
                <a:spcPts val="250"/>
              </a:spcBef>
            </a:pPr>
            <a:r>
              <a:rPr sz="950" b="1">
                <a:solidFill>
                  <a:srgbClr val="1A1A1A"/>
                </a:solidFill>
                <a:latin typeface="Palatino Linotype"/>
              </a:rPr>
              <a:t>length  </a:t>
            </a:r>
            <a:r>
              <a:rPr sz="900">
                <a:solidFill>
                  <a:srgbClr val="555555"/>
                </a:solidFill>
                <a:latin typeface="Consolas"/>
              </a:rPr>
              <a:t>ANY length ≥ 4  → scores 11-13mers from IgLM</a:t>
            </a:r>
          </a:p>
          <a:p>
            <a:pPr>
              <a:spcBef>
                <a:spcPts val="250"/>
              </a:spcBef>
            </a:pPr>
            <a:r>
              <a:rPr sz="950" b="1">
                <a:solidFill>
                  <a:srgbClr val="1A1A1A"/>
                </a:solidFill>
                <a:latin typeface="Palatino Linotype"/>
              </a:rPr>
              <a:t>classes  </a:t>
            </a:r>
            <a:r>
              <a:rPr sz="900">
                <a:solidFill>
                  <a:srgbClr val="555555"/>
                </a:solidFill>
                <a:latin typeface="Consolas"/>
              </a:rPr>
              <a:t>binder(1) / non-binder(0)</a:t>
            </a:r>
          </a:p>
          <a:p>
            <a:pPr>
              <a:spcBef>
                <a:spcPts val="500"/>
              </a:spcBef>
            </a:pPr>
            <a:r>
              <a:rPr sz="1100" b="1">
                <a:solidFill>
                  <a:srgbClr val="1A9850"/>
                </a:solidFill>
                <a:latin typeface="Palatino Linotype"/>
              </a:rPr>
              <a:t>test AUC 0.859 · AUPRC 0.737   (length-agnostic proxy)</a:t>
            </a:r>
          </a:p>
        </p:txBody>
      </p:sp>
      <p:sp>
        <p:nvSpPr>
          <p:cNvPr id="7" name="Rounded Rectangle 6"/>
          <p:cNvSpPr/>
          <p:nvPr/>
        </p:nvSpPr>
        <p:spPr>
          <a:xfrm>
            <a:off x="502920" y="4846320"/>
            <a:ext cx="11201400" cy="777240"/>
          </a:xfrm>
          <a:prstGeom prst="roundRect">
            <a:avLst/>
          </a:prstGeom>
          <a:solidFill>
            <a:srgbClr val="F2F2F2"/>
          </a:solidFill>
          <a:ln w="1270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64008"/>
          <a:lstStyle/>
          <a:p>
            <a:pPr algn="ctr"/>
            <a:r>
              <a:rPr sz="1100" b="1">
                <a:solidFill>
                  <a:srgbClr val="1A1A1A"/>
                </a:solidFill>
                <a:latin typeface="Palatino Linotype"/>
              </a:rPr>
              <a:t>Why layer 6?  </a:t>
            </a:r>
            <a:r>
              <a:rPr sz="1050">
                <a:solidFill>
                  <a:srgbClr val="1A1A1A"/>
                </a:solidFill>
                <a:latin typeface="Palatino Linotype"/>
              </a:rPr>
              <a:t>esm2_t6_8M has exactly 6 transformer layers — layer 6 is the FINAL, most-contextualized representation (not a tuned choice). Per-layer probing is a natural ablation, not done here.</a:t>
            </a:r>
          </a:p>
        </p:txBody>
      </p:sp>
      <p:sp>
        <p:nvSpPr>
          <p:cNvPr id="8" name="Rectangle 7"/>
          <p:cNvSpPr/>
          <p:nvPr/>
        </p:nvSpPr>
        <p:spPr>
          <a:xfrm>
            <a:off x="0" y="5806440"/>
            <a:ext cx="12191695" cy="56692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lIns="182880"/>
          <a:lstStyle/>
          <a:p>
            <a:pPr algn="ctr"/>
            <a:r>
              <a:rPr sz="850" b="1">
                <a:solidFill>
                  <a:srgbClr val="C8A25A"/>
                </a:solidFill>
                <a:latin typeface="Palatino Linotype"/>
              </a:rPr>
              <a:t>STRUCTURE  </a:t>
            </a:r>
            <a:r>
              <a:rPr sz="850">
                <a:solidFill>
                  <a:srgbClr val="E8E8E8"/>
                </a:solidFill>
                <a:latin typeface="Consolas"/>
              </a:rPr>
              <a:t>one-hot: np.ndarray [n,200] · ESM feature: np.ndarray [n,320] · labels: int {0,1}</a:t>
            </a:r>
          </a:p>
          <a:p>
            <a:r>
              <a:rPr sz="850" b="1">
                <a:solidFill>
                  <a:srgbClr val="C8A25A"/>
                </a:solidFill>
                <a:latin typeface="Palatino Linotype"/>
              </a:rPr>
              <a:t>TYPE  </a:t>
            </a:r>
            <a:r>
              <a:rPr sz="850">
                <a:solidFill>
                  <a:srgbClr val="E8E8E8"/>
                </a:solidFill>
                <a:latin typeface="Consolas"/>
              </a:rPr>
              <a:t>checkpoints: .joblib (MLP dict{clf,AAs} · LogReg) · output: P(binder) float in [0,1]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