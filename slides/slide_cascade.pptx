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 i="0">
                <a:solidFill>
                  <a:srgbClr val="1A1A1A"/>
                </a:solidFill>
                <a:latin typeface="Palatino Linotype"/>
              </a:rPr>
              <a:t>The cascade — cheap sequence filter, then expensive structure filter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6217920" cy="2743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A1A1A"/>
                </a:solidFill>
                <a:latin typeface="Palatino Linotype"/>
              </a:rPr>
              <a:t>120 generated  -&gt;  top 15 by sequence S(x)  -&gt;  fold + TAP &gt;= 0.8</a:t>
            </a:r>
          </a:p>
        </p:txBody>
      </p:sp>
      <p:pic>
        <p:nvPicPr>
          <p:cNvPr id="5" name="Picture 4" descr="nb03_casca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1554480"/>
            <a:ext cx="9326880" cy="347795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4480560"/>
            <a:ext cx="3657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 i="0">
                <a:solidFill>
                  <a:srgbClr val="1A1A1A"/>
                </a:solidFill>
                <a:latin typeface="Palatino Linotype"/>
              </a:rPr>
              <a:t>Biology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  <a:latin typeface="Palatino Linotype"/>
              </a:rPr>
              <a:t>Structure sees aggregation patches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  <a:latin typeface="Palatino Linotype"/>
              </a:rPr>
              <a:t>that sequence cannot — residues far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  <a:latin typeface="Palatino Linotype"/>
              </a:rPr>
              <a:t>in sequence, close on the surface.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4480560"/>
            <a:ext cx="3657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 i="0">
                <a:solidFill>
                  <a:srgbClr val="1A1A1A"/>
                </a:solidFill>
                <a:latin typeface="Palatino Linotype"/>
              </a:rPr>
              <a:t>Computation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  <a:latin typeface="Palatino Linotype"/>
              </a:rPr>
              <a:t>corr(S, TAP) = -0.04 -&gt; orthogonal.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  <a:latin typeface="Palatino Linotype"/>
              </a:rPr>
              <a:t>TAP reorders loops that S(x) ranks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  <a:latin typeface="Palatino Linotype"/>
              </a:rPr>
              <a:t>equally. A real second modality.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79" y="4480560"/>
            <a:ext cx="3657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 i="0">
                <a:solidFill>
                  <a:srgbClr val="1A1A1A"/>
                </a:solidFill>
                <a:latin typeface="Palatino Linotype"/>
              </a:rPr>
              <a:t>Strategy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  <a:latin typeface="Palatino Linotype"/>
              </a:rPr>
              <a:t>Cheap-then-expensive: filter on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  <a:latin typeface="Palatino Linotype"/>
              </a:rPr>
              <a:t>sequence first, fold only survivors.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  <a:latin typeface="Palatino Linotype"/>
              </a:rPr>
              <a:t>Same result, a fraction of the compute.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5989320"/>
            <a:ext cx="11155680" cy="59436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i="1">
                <a:solidFill>
                  <a:srgbClr val="1A1A1A"/>
                </a:solidFill>
                <a:latin typeface="Palatino Linotype"/>
              </a:rPr>
              <a:t>Top candidate GGIQLWGLWNFDY — best on both axes. This is the multimodal evaluator in action: sequence + structure, uncorrelated.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