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48640"/>
          </a:xfrm>
          <a:prstGeom prst="rect">
            <a:avLst/>
          </a:prstGeom>
          <a:noFill/>
        </p:spPr>
        <p:txBody>
          <a:bodyPr wrap="square">
            <a:spAutoFit/>
          </a:bodyPr>
          <a:lstStyle/>
          <a:p>
            <a:r>
              <a:rPr sz="2100" b="1">
                <a:solidFill>
                  <a:srgbClr val="1A1A1A"/>
                </a:solidFill>
                <a:latin typeface="Palatino Linotype"/>
              </a:rPr>
              <a:t>Structure oracle (TAP): from sequence to a developability score</a:t>
            </a:r>
          </a:p>
        </p:txBody>
      </p:sp>
      <p:sp>
        <p:nvSpPr>
          <p:cNvPr id="3" name="Rectangle 2"/>
          <p:cNvSpPr/>
          <p:nvPr/>
        </p:nvSpPr>
        <p:spPr>
          <a:xfrm>
            <a:off x="411480" y="868680"/>
            <a:ext cx="6400800" cy="3657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234440"/>
            <a:ext cx="2743200" cy="1188720"/>
          </a:xfrm>
          <a:prstGeom prst="round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1 · Input</a:t>
            </a:r>
          </a:p>
          <a:p>
            <a:pPr algn="ctr">
              <a:spcBef>
                <a:spcPts val="300"/>
              </a:spcBef>
            </a:pPr>
            <a:r>
              <a:rPr sz="950">
                <a:solidFill>
                  <a:srgbClr val="1A1A1A"/>
                </a:solidFill>
                <a:latin typeface="Palatino Linotype"/>
              </a:rPr>
              <a:t>designed VH (framework + your CDRH3)
+ germline VL (option A)</a:t>
            </a:r>
          </a:p>
        </p:txBody>
      </p:sp>
      <p:sp>
        <p:nvSpPr>
          <p:cNvPr id="5" name="Rounded Rectangle 4"/>
          <p:cNvSpPr/>
          <p:nvPr/>
        </p:nvSpPr>
        <p:spPr>
          <a:xfrm>
            <a:off x="3611880" y="1234440"/>
            <a:ext cx="2926080" cy="1188720"/>
          </a:xfrm>
          <a:prstGeom prst="roundRect">
            <a:avLst/>
          </a:prstGeom>
          <a:solidFill>
            <a:srgbClr val="F2F2F2"/>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2 · Fold the WHOLE Fv</a:t>
            </a:r>
          </a:p>
          <a:p>
            <a:pPr algn="ctr">
              <a:spcBef>
                <a:spcPts val="300"/>
              </a:spcBef>
            </a:pPr>
            <a:r>
              <a:rPr sz="950">
                <a:solidFill>
                  <a:srgbClr val="1A1A1A"/>
                </a:solidFill>
                <a:latin typeface="Palatino Linotype"/>
              </a:rPr>
              <a:t>ABodyBuilder2 predicts 3D coords of ALL ~220 residues, not just the loop</a:t>
            </a:r>
          </a:p>
        </p:txBody>
      </p:sp>
      <p:sp>
        <p:nvSpPr>
          <p:cNvPr id="6" name="Rounded Rectangle 5"/>
          <p:cNvSpPr/>
          <p:nvPr/>
        </p:nvSpPr>
        <p:spPr>
          <a:xfrm>
            <a:off x="6995160" y="1234440"/>
            <a:ext cx="4023360" cy="1188720"/>
          </a:xfrm>
          <a:prstGeom prst="round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3 · Locate the CDRs (ANARCI)</a:t>
            </a:r>
          </a:p>
          <a:p>
            <a:pPr algn="ctr">
              <a:spcBef>
                <a:spcPts val="300"/>
              </a:spcBef>
            </a:pPr>
            <a:r>
              <a:rPr sz="950">
                <a:solidFill>
                  <a:srgbClr val="1A1A1A"/>
                </a:solidFill>
                <a:latin typeface="Palatino Linotype"/>
              </a:rPr>
              <a:t>IMGT numbering marks which residues are CDRs; take the CDR vicinity (loops +/- 2 anchors)</a:t>
            </a:r>
          </a:p>
        </p:txBody>
      </p:sp>
      <p:cxnSp>
        <p:nvCxnSpPr>
          <p:cNvPr id="7" name="Connector 6"/>
          <p:cNvCxnSpPr/>
          <p:nvPr/>
        </p:nvCxnSpPr>
        <p:spPr>
          <a:xfrm>
            <a:off x="3154680" y="1828800"/>
            <a:ext cx="45720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37960" y="1828800"/>
            <a:ext cx="45720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06840" y="2423160"/>
            <a:ext cx="0" cy="54864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95160" y="2971800"/>
            <a:ext cx="4023360" cy="1188720"/>
          </a:xfrm>
          <a:prstGeom prst="round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4 · Score surface patches</a:t>
            </a:r>
          </a:p>
          <a:p>
            <a:pPr algn="ctr">
              <a:spcBef>
                <a:spcPts val="300"/>
              </a:spcBef>
            </a:pPr>
            <a:r>
              <a:rPr sz="950">
                <a:solidFill>
                  <a:srgbClr val="1A1A1A"/>
                </a:solidFill>
                <a:latin typeface="Palatino Linotype"/>
              </a:rPr>
              <a:t>freesasa exposure x hydrophobicity / charge, over the CDR vicinity only</a:t>
            </a:r>
          </a:p>
        </p:txBody>
      </p:sp>
      <p:sp>
        <p:nvSpPr>
          <p:cNvPr id="11" name="Rounded Rectangle 10"/>
          <p:cNvSpPr/>
          <p:nvPr/>
        </p:nvSpPr>
        <p:spPr>
          <a:xfrm>
            <a:off x="3611880" y="2971800"/>
            <a:ext cx="2926080" cy="1188720"/>
          </a:xfrm>
          <a:prstGeom prst="roundRect">
            <a:avLst/>
          </a:prstGeom>
          <a:solidFill>
            <a:srgbClr val="F2F2F2"/>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5 · Five TAP metrics</a:t>
            </a:r>
          </a:p>
          <a:p>
            <a:pPr algn="ctr">
              <a:spcBef>
                <a:spcPts val="300"/>
              </a:spcBef>
            </a:pPr>
            <a:r>
              <a:rPr sz="950">
                <a:solidFill>
                  <a:srgbClr val="1A1A1A"/>
                </a:solidFill>
                <a:latin typeface="Palatino Linotype"/>
              </a:rPr>
              <a:t>CDR length, PSH, PPC, PNC, SFvCSP</a:t>
            </a:r>
          </a:p>
        </p:txBody>
      </p:sp>
      <p:sp>
        <p:nvSpPr>
          <p:cNvPr id="12" name="Rounded Rectangle 11"/>
          <p:cNvSpPr/>
          <p:nvPr/>
        </p:nvSpPr>
        <p:spPr>
          <a:xfrm>
            <a:off x="411480" y="2971800"/>
            <a:ext cx="2743200" cy="1188720"/>
          </a:xfrm>
          <a:prstGeom prst="round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A1A1A"/>
                </a:solidFill>
                <a:latin typeface="Palatino Linotype"/>
              </a:rPr>
              <a:t>6 · TAP score [0,1]</a:t>
            </a:r>
          </a:p>
          <a:p>
            <a:pPr algn="ctr">
              <a:spcBef>
                <a:spcPts val="300"/>
              </a:spcBef>
            </a:pPr>
            <a:r>
              <a:rPr sz="950">
                <a:solidFill>
                  <a:srgbClr val="1A1A1A"/>
                </a:solidFill>
                <a:latin typeface="Palatino Linotype"/>
              </a:rPr>
              <a:t>green=1 / amber=0.5 / red=0, averaged</a:t>
            </a:r>
          </a:p>
        </p:txBody>
      </p:sp>
      <p:cxnSp>
        <p:nvCxnSpPr>
          <p:cNvPr id="13" name="Connector 12"/>
          <p:cNvCxnSpPr/>
          <p:nvPr/>
        </p:nvCxnSpPr>
        <p:spPr>
          <a:xfrm flipH="1">
            <a:off x="6537960" y="3566160"/>
            <a:ext cx="45720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154680" y="3566160"/>
            <a:ext cx="45720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1480" y="4526280"/>
            <a:ext cx="10607040" cy="1600200"/>
          </a:xfrm>
          <a:prstGeom prst="roundRect">
            <a:avLst/>
          </a:prstGeom>
          <a:solidFill>
            <a:srgbClr val="FFFFFF"/>
          </a:solidFill>
          <a:ln w="1270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r>
              <a:rPr sz="1200" b="1">
                <a:solidFill>
                  <a:srgbClr val="1A1A1A"/>
                </a:solidFill>
                <a:latin typeface="Palatino Linotype"/>
              </a:rPr>
              <a:t>The key point</a:t>
            </a:r>
          </a:p>
          <a:p>
            <a:pPr>
              <a:spcBef>
                <a:spcPts val="400"/>
              </a:spcBef>
            </a:pPr>
            <a:r>
              <a:rPr sz="1050">
                <a:solidFill>
                  <a:srgbClr val="1A1A1A"/>
                </a:solidFill>
                <a:latin typeface="Palatino Linotype"/>
              </a:rPr>
              <a:t>The predictor folds the ENTIRE variable region — the CDRH3 loop only adopts its 3D shape in the context of the framework that holds it. So we fold everything, then the TAP metrics look mainly at the CDR vicinity, where aggregation-prone patches live. Structure sees what sequence cannot: residues far apart in sequence can be neighbours on the folded surface.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