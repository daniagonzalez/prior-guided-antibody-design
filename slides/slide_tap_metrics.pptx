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1A1A1A"/>
                </a:solidFill>
                <a:latin typeface="Palatino Linotype"/>
              </a:rPr>
              <a:t>The five TAP metrics — biology and computation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03504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Palatino Linotype"/>
              </a:rPr>
              <a:t>1 · Total CDR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43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1">
                <a:solidFill>
                  <a:srgbClr val="1A1A1A"/>
                </a:solidFill>
                <a:latin typeface="Palatino Linotype"/>
              </a:rPr>
              <a:t>longer CDR loops = more liability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1430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Palatino Linotype"/>
              </a:rPr>
              <a:t>int — count residues in IMGT CDR ranges (ANARCI), VH+VL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013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Palatino Linotype"/>
              </a:rPr>
              <a:t>2 · PSH  (hydrophobic patches)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013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1">
                <a:solidFill>
                  <a:srgbClr val="1A1A1A"/>
                </a:solidFill>
                <a:latin typeface="Palatino Linotype"/>
              </a:rPr>
              <a:t>exposed hydrophobic area near CDRs = aggregation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80136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Palatino Linotype"/>
              </a:rPr>
              <a:t>float — Σ KD[aa] x SASA/100 over CDR vicinity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97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Palatino Linotype"/>
              </a:rPr>
              <a:t>3 · PPC  (positive patches)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5973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1">
                <a:solidFill>
                  <a:srgbClr val="1A1A1A"/>
                </a:solidFill>
                <a:latin typeface="Palatino Linotype"/>
              </a:rPr>
              <a:t>clustered positive charge (K,R) = non-specific binding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59736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Palatino Linotype"/>
              </a:rPr>
              <a:t>float — Σ (+charge) x SASA/100, positives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1810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Palatino Linotype"/>
              </a:rPr>
              <a:t>4 · PNC  (negative patches)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1810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1">
                <a:solidFill>
                  <a:srgbClr val="1A1A1A"/>
                </a:solidFill>
                <a:latin typeface="Palatino Linotype"/>
              </a:rPr>
              <a:t>clustered negative charge (D,E); measured apart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118104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Palatino Linotype"/>
              </a:rPr>
              <a:t>float — Σ (-charge) x SASA/100, negatives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76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Palatino Linotype"/>
              </a:rPr>
              <a:t>5 · SFvCSP  (charge symmetry)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7647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1">
                <a:solidFill>
                  <a:srgbClr val="1A1A1A"/>
                </a:solidFill>
                <a:latin typeface="Palatino Linotype"/>
              </a:rPr>
              <a:t>VH/VL charge complementarity; same sign repels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77647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Palatino Linotype"/>
              </a:rPr>
              <a:t>float — net_charge(VH) x net_charge(VL);  needs VL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26280"/>
            <a:ext cx="11155680" cy="18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17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Palatino Linotype"/>
              </a:rPr>
              <a:t>From five metrics to one score: the flag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Palatino Linotype"/>
              </a:rPr>
              <a:t>Each metric is compared to green / amber / red thresholds from the TAP paper, then mapped to a number: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Palatino Linotype"/>
              </a:rPr>
              <a:t>green (healthy) = 1.0        amber (borderline) = 0.5        red (flagged) = 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Palatino Linotype"/>
              </a:rPr>
              <a:t>tap_score = mean of the per-metric flags  -&gt;  a single value in [0,1].  Option A (Fv) uses all five; Option B (VH-only) uses four (no SFvCSP).</a:t>
            </a:r>
          </a:p>
          <a:p>
            <a:pPr algn="l">
              <a:spcAft>
                <a:spcPts val="300"/>
              </a:spcAft>
            </a:pPr>
            <a:r>
              <a:rPr sz="1000" b="0" i="1">
                <a:solidFill>
                  <a:srgbClr val="B2182B"/>
                </a:solidFill>
                <a:latin typeface="Palatino Linotype"/>
              </a:rPr>
              <a:t>Honest note: TAP-style reproduction — official code not public; thresholds taken from the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