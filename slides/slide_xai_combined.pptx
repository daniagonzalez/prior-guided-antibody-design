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diapo junta los dos analisis de interpretabilidad, a dos escalas. Fila A, el wild-type de trastuzumab con el modelo one-hot: es local e interpretable, anclado en un anticuerpo real. Muestra que el wild-type ya esta casi optimo y que la posicion ocho es el hotspot -mutarla de alanina a lisina tira el binding de cero coma noventa y siete a cero coma veintidos. Su limite es que explica una sola secuencia, y ademas un modelo que no es el que usa el loop. Fila B responde ese limite: la misma mutagenesis pero con el oraculo ESM -el que si usa el loop- sobre las ciento veinte secuencias generadas, veintiocho mil mutantes. Aca la senal esta distribuida, sin un hotspot unico, con un sesgo suave hacia el C-terminal. Como los loops tienen distinto largo, alineo por posicion relativa. El mensaje que las une: en una secuencia real hay un hotspot local, y sobre todo el pool generado la senal se sostiene distribuida. Es decir, el oraculo aprendio estructura posicional real y generalizable, no un artefacto de una sola secuencia. Y de paso, la version B explica exactamente el modelo que el RL optimiza, que es la critica que un revisor haria a la version A 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Palatino Linotype"/>
              </a:rPr>
              <a:t>Explaining the binding oracle — local (WT) and global (120 loops)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Palatino Linotype"/>
              </a:rPr>
              <a:t>Saturation mutagenesis at two scopes: one real antibody (interpretable), then all 120 generated loops (generalization).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965960" cy="23774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alatino Linotype"/>
              </a:rPr>
              <a:t>A · WT trastuzumab</a:t>
            </a:r>
          </a:p>
          <a:p>
            <a:pPr algn="ctr"/>
            <a:r>
              <a:rPr sz="400" b="0">
                <a:solidFill>
                  <a:srgbClr val="FFFFFF"/>
                </a:solidFill>
                <a:latin typeface="Palatino Linotype"/>
              </a:rPr>
              <a:t/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Palatino Linotype"/>
              </a:rPr>
              <a:t>one-hot model · 10-mer</a:t>
            </a:r>
          </a:p>
          <a:p>
            <a:pPr algn="ctr"/>
            <a:r>
              <a:rPr sz="400" b="0">
                <a:solidFill>
                  <a:srgbClr val="FFFFFF"/>
                </a:solidFill>
                <a:latin typeface="Palatino Linotype"/>
              </a:rPr>
              <a:t/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Palatino Linotype"/>
              </a:rPr>
              <a:t>pos 8 dominates: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Palatino Linotype"/>
              </a:rPr>
              <a:t>A→K drops 0.97→0.22</a:t>
            </a:r>
          </a:p>
          <a:p>
            <a:pPr algn="ctr"/>
            <a:r>
              <a:rPr sz="400" b="0">
                <a:solidFill>
                  <a:srgbClr val="FFFFFF"/>
                </a:solidFill>
                <a:latin typeface="Palatino Linotype"/>
              </a:rPr>
              <a:t/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Palatino Linotype"/>
              </a:rPr>
              <a:t>local, interpretable,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Palatino Linotype"/>
              </a:rPr>
              <a:t>anchored on a real Ab</a:t>
            </a:r>
          </a:p>
        </p:txBody>
      </p:sp>
      <p:pic>
        <p:nvPicPr>
          <p:cNvPr id="6" name="Picture 5" descr="nb06_xai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325880"/>
            <a:ext cx="4297680" cy="17914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6600" y="13716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B2182B"/>
                </a:solidFill>
                <a:latin typeface="Palatino Linotype"/>
              </a:rPr>
              <a:t>What it shows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• WT already near-optimal (P=0.97)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• Position 8 is the hotspot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• Sensitivity rank 8 &gt; 10 &gt; 5 &gt; 1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• Uses one-hot model (fixed length 10)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1">
                <a:solidFill>
                  <a:srgbClr val="555555"/>
                </a:solidFill>
                <a:latin typeface="Palatino Linotype"/>
              </a:rPr>
              <a:t>Limit: explains one sequence, and a model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1">
                <a:solidFill>
                  <a:srgbClr val="555555"/>
                </a:solidFill>
                <a:latin typeface="Palatino Linotype"/>
              </a:rPr>
              <a:t>not used in the loop.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840480"/>
            <a:ext cx="1965960" cy="22860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alatino Linotype"/>
              </a:rPr>
              <a:t>B · 120 generated loops</a:t>
            </a:r>
          </a:p>
          <a:p>
            <a:pPr algn="ctr"/>
            <a:r>
              <a:rPr sz="400" b="0">
                <a:solidFill>
                  <a:srgbClr val="FFFFFF"/>
                </a:solidFill>
                <a:latin typeface="Palatino Linotype"/>
              </a:rPr>
              <a:t/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Palatino Linotype"/>
              </a:rPr>
              <a:t>ESM2 model · loop oracle</a:t>
            </a:r>
          </a:p>
          <a:p>
            <a:pPr algn="ctr"/>
            <a:r>
              <a:rPr sz="400" b="0">
                <a:solidFill>
                  <a:srgbClr val="FFFFFF"/>
                </a:solidFill>
                <a:latin typeface="Palatino Linotype"/>
              </a:rPr>
              <a:t/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Palatino Linotype"/>
              </a:rPr>
              <a:t>28,272 mutants</a:t>
            </a:r>
          </a:p>
          <a:p>
            <a:pPr algn="ctr"/>
            <a:r>
              <a:rPr sz="400" b="0">
                <a:solidFill>
                  <a:srgbClr val="FFFFFF"/>
                </a:solidFill>
                <a:latin typeface="Palatino Linotype"/>
              </a:rPr>
              <a:t/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Palatino Linotype"/>
              </a:rPr>
              <a:t>signal distributed;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Palatino Linotype"/>
              </a:rPr>
              <a:t>mild C-term bias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Palatino Linotype"/>
              </a:rPr>
              <a:t>(0.088 vs 0.072)</a:t>
            </a:r>
          </a:p>
        </p:txBody>
      </p:sp>
      <p:pic>
        <p:nvPicPr>
          <p:cNvPr id="9" name="Picture 8" descr="nb06_xai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840480"/>
            <a:ext cx="4297680" cy="14984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6600" y="38862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2166AC"/>
                </a:solidFill>
                <a:latin typeface="Palatino Linotype"/>
              </a:rPr>
              <a:t>What it adds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• Uses ESM2 — the model the RL loop uses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• No single hotspot: even 0.07-0.10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• Aligned by relative position (len 8-18)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1">
                <a:solidFill>
                  <a:srgbClr val="555555"/>
                </a:solidFill>
                <a:latin typeface="Palatino Linotype"/>
              </a:rPr>
              <a:t>Generalizes A: the oracle's positional signal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1">
                <a:solidFill>
                  <a:srgbClr val="555555"/>
                </a:solidFill>
                <a:latin typeface="Palatino Linotype"/>
              </a:rPr>
              <a:t>is not a single-sequence artifact.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lIns="182880"/>
          <a:lstStyle/>
          <a:p>
            <a:pPr algn="ctr"/>
            <a:r>
              <a:rPr sz="1050" b="1">
                <a:solidFill>
                  <a:srgbClr val="FFFFFF"/>
                </a:solidFill>
                <a:latin typeface="Palatino Linotype"/>
              </a:rPr>
              <a:t>Local hotspot on a real antibody (one-hot) + distributed signal across the generated pool (ESM2) = the oracle learned real, generalizable positional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