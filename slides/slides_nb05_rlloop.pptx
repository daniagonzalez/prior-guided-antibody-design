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loop de optimizacion es REINVENT, y conviene aclarar que no es el RL clasico de estados y acciones. Tengo dos copias del mismo modelo de lenguaje de anticuerpos: un prior congelado, que nunca se actualiza y solo mide que tan realista es una secuencia, y un agente, que es una copia entrenable del prior y es el que genera. El ciclo tiene cuatro pasos: el agente genera un lote de loops, cada loop recibe un reward de los oraculos y una log-probabilidad del prior, se arma un target -la augmented likelihood, prior mas sigma por reward-, y se ajusta el agente para que la probabilidad que le da a cada secuencia se acerque a ese target. En la practica eso sube la probabilidad de los loops buenos y baja la de los malos. La clave tecnica: la rama del agente lleva gradientes, la del prior va detached. Y la razon de anclar al prior es estabilidad: no hay problema de exploracion como en RL clasico, y mientras sigma sea moderado no hay reward hacking.</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corazon tecnico es la log-verosimilitud del span, y es lo que un entrevistador va a preguntar en detalle. Necesito la probabilidad del CDRH3 como un tensor diferenciable, porque la funcion nativa del modelo devuelve un numero desconectado, inutil para entrenar. El calculo: paso los tokens por el modelo, aplico log_softmax sobre el eje del vocabulario, aplico el corrimiento estandar de next-token, tomo la probabilidad del token real en cada posicion y sumo solo sobre el span del CDRH3, incluyendo el token de cierre porque lleva masa de probabilidad real. Antes de confiar en un solo gradiente, valido contra el valor nativo del modelo: si no coinciden a menos de una milesima, todo el entrenamiento estaria sobre el objetivo equivocado. Coinciden. Y el resultado del baseline: la curva de developability se queda plana en 0.75 porque el pool ya arranca en 0.78 -esta saturado. Eso no es un fracaso, es un diagnostico correcto de saturacion, y es lo que motiva mover el objetivo a binding.</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Como el baseline se quedo plano, necesito descartar que el loop este roto. Para eso uso un control positivo: un reward de juguete -la fraccion de tirosina- que necesariamente se puede mover. Sube de 0.12 a 0.52 en las tres semillas, asi que la maquinaria optimiza; la curva plana de developability era saturacion, no un loop roto. Despues, tres ablations. Sigma: cinco, quince y treinta se quedan todos cerca de 0.75 sobre un reward saturado; subir sigma solo aumenta la divergencia del prior sin ganar reward. Batch size: la rugosidad de la curva cae de 0.025 a 0.011 cuando el batch va de ocho a treinta y dos, siguiendo uno sobre raiz de ene -o sea, los picos son varianza de muestreo, no inestabilidad. Y el length guard: los loops cortos tienen mayor log-probabilidad, asi que el agente podria hacer reward hacking generando loops degenerados; el guard pone el reward en cero para loops de menos de cuatro residuos. La sintesis: el loop optimiza exactamente cuando el reward tiene margen, y este montaje controlado es lo que hace riguroso el resultado de binding que viene despues -mismo loop, mismo codigo, distinto headroom.</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3.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pPr algn="l">
              <a:spcAft>
                <a:spcPts val="200"/>
              </a:spcAft>
            </a:pPr>
            <a:r>
              <a:rPr sz="2100" b="1" i="0">
                <a:solidFill>
                  <a:srgbClr val="1A1A1A"/>
                </a:solidFill>
                <a:latin typeface="Palatino Linotype"/>
              </a:rPr>
              <a:t>The RL loop — REINVENT: a prior-anchored policy update</a:t>
            </a:r>
          </a:p>
        </p:txBody>
      </p:sp>
      <p:sp>
        <p:nvSpPr>
          <p:cNvPr id="3" name="Rectangle 2"/>
          <p:cNvSpPr/>
          <p:nvPr/>
        </p:nvSpPr>
        <p:spPr>
          <a:xfrm>
            <a:off x="502920" y="914400"/>
            <a:ext cx="6217920" cy="27432"/>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987552"/>
            <a:ext cx="11155680" cy="411480"/>
          </a:xfrm>
          <a:prstGeom prst="rect">
            <a:avLst/>
          </a:prstGeom>
          <a:noFill/>
        </p:spPr>
        <p:txBody>
          <a:bodyPr wrap="square">
            <a:spAutoFit/>
          </a:bodyPr>
          <a:lstStyle/>
          <a:p>
            <a:pPr algn="l">
              <a:lnSpc>
                <a:spcPct val="100000"/>
              </a:lnSpc>
              <a:spcAft>
                <a:spcPts val="200"/>
              </a:spcAft>
            </a:pPr>
            <a:r>
              <a:rPr sz="1100" b="0" i="1">
                <a:solidFill>
                  <a:srgbClr val="555555"/>
                </a:solidFill>
                <a:latin typeface="Palatino Linotype"/>
              </a:rPr>
              <a:t>Not vanilla policy gradient. A frozen prior proposes realistic loops; a trainable copy (agent) is pulled toward high reward — but tethered to the prior.</a:t>
            </a:r>
          </a:p>
        </p:txBody>
      </p:sp>
      <p:sp>
        <p:nvSpPr>
          <p:cNvPr id="5" name="Rounded Rectangle 4"/>
          <p:cNvSpPr/>
          <p:nvPr/>
        </p:nvSpPr>
        <p:spPr>
          <a:xfrm>
            <a:off x="502920" y="1554480"/>
            <a:ext cx="2743200" cy="1051560"/>
          </a:xfrm>
          <a:prstGeom prst="roundRect">
            <a:avLst/>
          </a:prstGeom>
          <a:solidFill>
            <a:srgbClr val="F2F2F2"/>
          </a:solidFill>
          <a:ln w="1397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1A1A1A"/>
                </a:solidFill>
                <a:latin typeface="Palatino Linotype"/>
              </a:rPr>
              <a:t>Prior (frozen)</a:t>
            </a:r>
          </a:p>
          <a:p>
            <a:pPr algn="ctr">
              <a:spcBef>
                <a:spcPts val="200"/>
              </a:spcBef>
            </a:pPr>
            <a:r>
              <a:rPr sz="850">
                <a:solidFill>
                  <a:srgbClr val="1A1A1A"/>
                </a:solidFill>
                <a:latin typeface="Palatino Linotype"/>
              </a:rPr>
              <a:t>IgLM · never updates · scores realism log P_prior(x)</a:t>
            </a:r>
          </a:p>
        </p:txBody>
      </p:sp>
      <p:sp>
        <p:nvSpPr>
          <p:cNvPr id="6" name="Rounded Rectangle 5"/>
          <p:cNvSpPr/>
          <p:nvPr/>
        </p:nvSpPr>
        <p:spPr>
          <a:xfrm>
            <a:off x="3566160" y="1554480"/>
            <a:ext cx="2743200" cy="1051560"/>
          </a:xfrm>
          <a:prstGeom prst="roundRect">
            <a:avLst/>
          </a:prstGeom>
          <a:solidFill>
            <a:srgbClr val="FFFFFF"/>
          </a:solidFill>
          <a:ln w="13970">
            <a:solidFill>
              <a:srgbClr val="2166AC"/>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2166AC"/>
                </a:solidFill>
                <a:latin typeface="Palatino Linotype"/>
              </a:rPr>
              <a:t>Agent (trainable)</a:t>
            </a:r>
          </a:p>
          <a:p>
            <a:pPr algn="ctr">
              <a:spcBef>
                <a:spcPts val="200"/>
              </a:spcBef>
            </a:pPr>
            <a:r>
              <a:rPr sz="850">
                <a:solidFill>
                  <a:srgbClr val="1A1A1A"/>
                </a:solidFill>
                <a:latin typeface="Palatino Linotype"/>
              </a:rPr>
              <a:t>a copy of the prior · generates &amp; learns</a:t>
            </a:r>
          </a:p>
        </p:txBody>
      </p:sp>
      <p:cxnSp>
        <p:nvCxnSpPr>
          <p:cNvPr id="7" name="Connector 6"/>
          <p:cNvCxnSpPr/>
          <p:nvPr/>
        </p:nvCxnSpPr>
        <p:spPr>
          <a:xfrm>
            <a:off x="3246120" y="2075688"/>
            <a:ext cx="320040" cy="0"/>
          </a:xfrm>
          <a:prstGeom prst="line">
            <a:avLst/>
          </a:prstGeom>
          <a:ln w="19050">
            <a:solidFill>
              <a:srgbClr val="555555"/>
            </a:solidFill>
            <a:tailEnd type="triangle" w="med" len="med"/>
          </a:ln>
        </p:spPr>
        <p:style>
          <a:lnRef idx="2">
            <a:schemeClr val="accent1"/>
          </a:lnRef>
          <a:fillRef idx="0">
            <a:schemeClr val="accent1"/>
          </a:fillRef>
          <a:effectRef idx="1">
            <a:schemeClr val="accent1"/>
          </a:effectRef>
          <a:fontRef idx="minor">
            <a:schemeClr val="tx1"/>
          </a:fontRef>
        </p:style>
      </p:cxnSp>
      <p:sp>
        <p:nvSpPr>
          <p:cNvPr id="8" name="Rounded Rectangle 7"/>
          <p:cNvSpPr/>
          <p:nvPr/>
        </p:nvSpPr>
        <p:spPr>
          <a:xfrm>
            <a:off x="6537960" y="1554480"/>
            <a:ext cx="2606040" cy="749808"/>
          </a:xfrm>
          <a:prstGeom prst="roundRect">
            <a:avLst/>
          </a:prstGeom>
          <a:solidFill>
            <a:srgbClr val="F2F2F2"/>
          </a:solidFill>
          <a:ln w="1397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50" b="1">
                <a:solidFill>
                  <a:srgbClr val="1A1A1A"/>
                </a:solidFill>
                <a:latin typeface="Palatino Linotype"/>
              </a:rPr>
              <a:t>1 SAMPLE</a:t>
            </a:r>
          </a:p>
          <a:p>
            <a:pPr algn="ctr">
              <a:spcBef>
                <a:spcPts val="200"/>
              </a:spcBef>
            </a:pPr>
            <a:r>
              <a:rPr sz="800">
                <a:solidFill>
                  <a:srgbClr val="1A1A1A"/>
                </a:solidFill>
                <a:latin typeface="Palatino Linotype"/>
              </a:rPr>
              <a:t>agent generates N loops</a:t>
            </a:r>
          </a:p>
        </p:txBody>
      </p:sp>
      <p:sp>
        <p:nvSpPr>
          <p:cNvPr id="9" name="Rounded Rectangle 8"/>
          <p:cNvSpPr/>
          <p:nvPr/>
        </p:nvSpPr>
        <p:spPr>
          <a:xfrm>
            <a:off x="9235440" y="1554480"/>
            <a:ext cx="2606040" cy="749808"/>
          </a:xfrm>
          <a:prstGeom prst="roundRect">
            <a:avLst/>
          </a:prstGeom>
          <a:solidFill>
            <a:srgbClr val="FFFFFF"/>
          </a:solidFill>
          <a:ln w="1397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50" b="1">
                <a:solidFill>
                  <a:srgbClr val="1A1A1A"/>
                </a:solidFill>
                <a:latin typeface="Palatino Linotype"/>
              </a:rPr>
              <a:t>2 SCORE</a:t>
            </a:r>
          </a:p>
          <a:p>
            <a:pPr algn="ctr">
              <a:spcBef>
                <a:spcPts val="200"/>
              </a:spcBef>
            </a:pPr>
            <a:r>
              <a:rPr sz="800">
                <a:solidFill>
                  <a:srgbClr val="1A1A1A"/>
                </a:solidFill>
                <a:latin typeface="Palatino Linotype"/>
              </a:rPr>
              <a:t>reward S(x) + prior log-prob</a:t>
            </a:r>
          </a:p>
        </p:txBody>
      </p:sp>
      <p:sp>
        <p:nvSpPr>
          <p:cNvPr id="10" name="Rounded Rectangle 9"/>
          <p:cNvSpPr/>
          <p:nvPr/>
        </p:nvSpPr>
        <p:spPr>
          <a:xfrm>
            <a:off x="6537960" y="2423160"/>
            <a:ext cx="2606040" cy="749808"/>
          </a:xfrm>
          <a:prstGeom prst="roundRect">
            <a:avLst/>
          </a:prstGeom>
          <a:solidFill>
            <a:srgbClr val="F2F2F2"/>
          </a:solidFill>
          <a:ln w="1397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50" b="1">
                <a:solidFill>
                  <a:srgbClr val="1A1A1A"/>
                </a:solidFill>
                <a:latin typeface="Palatino Linotype"/>
              </a:rPr>
              <a:t>3 TARGET</a:t>
            </a:r>
          </a:p>
          <a:p>
            <a:pPr algn="ctr">
              <a:spcBef>
                <a:spcPts val="200"/>
              </a:spcBef>
            </a:pPr>
            <a:r>
              <a:rPr sz="800">
                <a:solidFill>
                  <a:srgbClr val="1A1A1A"/>
                </a:solidFill>
                <a:latin typeface="Palatino Linotype"/>
              </a:rPr>
              <a:t>log P* = log P_prior + σ·S(x)</a:t>
            </a:r>
          </a:p>
        </p:txBody>
      </p:sp>
      <p:sp>
        <p:nvSpPr>
          <p:cNvPr id="11" name="Rounded Rectangle 10"/>
          <p:cNvSpPr/>
          <p:nvPr/>
        </p:nvSpPr>
        <p:spPr>
          <a:xfrm>
            <a:off x="9235440" y="2423160"/>
            <a:ext cx="2606040" cy="749808"/>
          </a:xfrm>
          <a:prstGeom prst="roundRect">
            <a:avLst/>
          </a:prstGeom>
          <a:solidFill>
            <a:srgbClr val="FFFFFF"/>
          </a:solidFill>
          <a:ln w="1397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050" b="1">
                <a:solidFill>
                  <a:srgbClr val="1A1A1A"/>
                </a:solidFill>
                <a:latin typeface="Palatino Linotype"/>
              </a:rPr>
              <a:t>4 UPDATE</a:t>
            </a:r>
          </a:p>
          <a:p>
            <a:pPr algn="ctr">
              <a:spcBef>
                <a:spcPts val="200"/>
              </a:spcBef>
            </a:pPr>
            <a:r>
              <a:rPr sz="800">
                <a:solidFill>
                  <a:srgbClr val="1A1A1A"/>
                </a:solidFill>
                <a:latin typeface="Palatino Linotype"/>
              </a:rPr>
              <a:t>regress agent onto target</a:t>
            </a:r>
          </a:p>
        </p:txBody>
      </p:sp>
      <p:sp>
        <p:nvSpPr>
          <p:cNvPr id="12" name="Rounded Rectangle 11"/>
          <p:cNvSpPr/>
          <p:nvPr/>
        </p:nvSpPr>
        <p:spPr>
          <a:xfrm>
            <a:off x="502920" y="2880360"/>
            <a:ext cx="11155680" cy="1051560"/>
          </a:xfrm>
          <a:prstGeom prst="roundRect">
            <a:avLst/>
          </a:prstGeom>
          <a:solidFill>
            <a:srgbClr val="FFFFFF"/>
          </a:solidFill>
          <a:ln w="1651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r>
              <a:rPr sz="1550" b="1">
                <a:solidFill>
                  <a:srgbClr val="1A1A1A"/>
                </a:solidFill>
                <a:latin typeface="Palatino Linotype"/>
              </a:rPr>
              <a:t>target:  log P*(x) = log P_prior(x) + σ·S(x)          loss:  ( log P_agent(x) − log P*(x) )²</a:t>
            </a:r>
          </a:p>
          <a:p>
            <a:pPr algn="ctr">
              <a:spcBef>
                <a:spcPts val="600"/>
              </a:spcBef>
            </a:pPr>
            <a:r>
              <a:rPr sz="1050" i="1">
                <a:solidFill>
                  <a:srgbClr val="555555"/>
                </a:solidFill>
                <a:latin typeface="Palatino Linotype"/>
              </a:rPr>
              <a:t>raise probability of high-reward loops, lower it for the rest — without drifting off the prior</a:t>
            </a:r>
          </a:p>
        </p:txBody>
      </p:sp>
      <p:sp>
        <p:nvSpPr>
          <p:cNvPr id="13" name="TextBox 12"/>
          <p:cNvSpPr txBox="1"/>
          <p:nvPr/>
        </p:nvSpPr>
        <p:spPr>
          <a:xfrm>
            <a:off x="502920" y="4114800"/>
            <a:ext cx="3657600" cy="1737360"/>
          </a:xfrm>
          <a:prstGeom prst="rect">
            <a:avLst/>
          </a:prstGeom>
          <a:noFill/>
        </p:spPr>
        <p:txBody>
          <a:bodyPr wrap="square">
            <a:spAutoFit/>
          </a:bodyPr>
          <a:lstStyle/>
          <a:p>
            <a:pPr algn="l">
              <a:lnSpc>
                <a:spcPct val="100000"/>
              </a:lnSpc>
              <a:spcAft>
                <a:spcPts val="100"/>
              </a:spcAft>
            </a:pPr>
            <a:r>
              <a:rPr sz="1200" b="1" i="0">
                <a:solidFill>
                  <a:srgbClr val="1A1A1A"/>
                </a:solidFill>
                <a:latin typeface="Palatino Linotype"/>
              </a:rPr>
              <a:t>Biology</a:t>
            </a:r>
          </a:p>
          <a:p>
            <a:pPr algn="l">
              <a:lnSpc>
                <a:spcPct val="100000"/>
              </a:lnSpc>
              <a:spcAft>
                <a:spcPts val="100"/>
              </a:spcAft>
            </a:pPr>
            <a:r>
              <a:rPr sz="950" b="0" i="0">
                <a:solidFill>
                  <a:srgbClr val="1A1A1A"/>
                </a:solidFill>
                <a:latin typeface="Palatino Linotype"/>
              </a:rPr>
              <a:t>The prior keeps designs looking like</a:t>
            </a:r>
          </a:p>
          <a:p>
            <a:pPr algn="l">
              <a:lnSpc>
                <a:spcPct val="100000"/>
              </a:lnSpc>
              <a:spcAft>
                <a:spcPts val="100"/>
              </a:spcAft>
            </a:pPr>
            <a:r>
              <a:rPr sz="950" b="0" i="0">
                <a:solidFill>
                  <a:srgbClr val="1A1A1A"/>
                </a:solidFill>
                <a:latin typeface="Palatino Linotype"/>
              </a:rPr>
              <a:t>real antibody loops; the reward pushes</a:t>
            </a:r>
          </a:p>
          <a:p>
            <a:pPr algn="l">
              <a:lnSpc>
                <a:spcPct val="100000"/>
              </a:lnSpc>
              <a:spcAft>
                <a:spcPts val="100"/>
              </a:spcAft>
            </a:pPr>
            <a:r>
              <a:rPr sz="950" b="0" i="0">
                <a:solidFill>
                  <a:srgbClr val="1A1A1A"/>
                </a:solidFill>
                <a:latin typeface="Palatino Linotype"/>
              </a:rPr>
              <a:t>toward developable ones.</a:t>
            </a:r>
          </a:p>
        </p:txBody>
      </p:sp>
      <p:sp>
        <p:nvSpPr>
          <p:cNvPr id="14" name="TextBox 13"/>
          <p:cNvSpPr txBox="1"/>
          <p:nvPr/>
        </p:nvSpPr>
        <p:spPr>
          <a:xfrm>
            <a:off x="4343400" y="4114800"/>
            <a:ext cx="3657600" cy="1737360"/>
          </a:xfrm>
          <a:prstGeom prst="rect">
            <a:avLst/>
          </a:prstGeom>
          <a:noFill/>
        </p:spPr>
        <p:txBody>
          <a:bodyPr wrap="square">
            <a:spAutoFit/>
          </a:bodyPr>
          <a:lstStyle/>
          <a:p>
            <a:pPr algn="l">
              <a:lnSpc>
                <a:spcPct val="100000"/>
              </a:lnSpc>
              <a:spcAft>
                <a:spcPts val="100"/>
              </a:spcAft>
            </a:pPr>
            <a:r>
              <a:rPr sz="1200" b="1" i="0">
                <a:solidFill>
                  <a:srgbClr val="1A1A1A"/>
                </a:solidFill>
                <a:latin typeface="Palatino Linotype"/>
              </a:rPr>
              <a:t>Computation</a:t>
            </a:r>
          </a:p>
          <a:p>
            <a:pPr algn="l">
              <a:lnSpc>
                <a:spcPct val="100000"/>
              </a:lnSpc>
              <a:spcAft>
                <a:spcPts val="100"/>
              </a:spcAft>
            </a:pPr>
            <a:r>
              <a:rPr sz="950" b="0" i="0">
                <a:solidFill>
                  <a:srgbClr val="1A1A1A"/>
                </a:solidFill>
                <a:latin typeface="Palatino Linotype"/>
              </a:rPr>
              <a:t>Squared error to an augmented-likelihood</a:t>
            </a:r>
          </a:p>
          <a:p>
            <a:pPr algn="l">
              <a:lnSpc>
                <a:spcPct val="100000"/>
              </a:lnSpc>
              <a:spcAft>
                <a:spcPts val="100"/>
              </a:spcAft>
            </a:pPr>
            <a:r>
              <a:rPr sz="950" b="0" i="0">
                <a:solidFill>
                  <a:srgbClr val="1A1A1A"/>
                </a:solidFill>
                <a:latin typeface="Palatino Linotype"/>
              </a:rPr>
              <a:t>target. Agent branch carries gradients;</a:t>
            </a:r>
          </a:p>
          <a:p>
            <a:pPr algn="l">
              <a:lnSpc>
                <a:spcPct val="100000"/>
              </a:lnSpc>
              <a:spcAft>
                <a:spcPts val="100"/>
              </a:spcAft>
            </a:pPr>
            <a:r>
              <a:rPr sz="950" b="0" i="0">
                <a:solidFill>
                  <a:srgbClr val="1A1A1A"/>
                </a:solidFill>
                <a:latin typeface="Palatino Linotype"/>
              </a:rPr>
              <a:t>prior branch is detached (no_grad).</a:t>
            </a:r>
          </a:p>
        </p:txBody>
      </p:sp>
      <p:sp>
        <p:nvSpPr>
          <p:cNvPr id="15" name="TextBox 14"/>
          <p:cNvSpPr txBox="1"/>
          <p:nvPr/>
        </p:nvSpPr>
        <p:spPr>
          <a:xfrm>
            <a:off x="8183879" y="4114800"/>
            <a:ext cx="3657600" cy="1737360"/>
          </a:xfrm>
          <a:prstGeom prst="rect">
            <a:avLst/>
          </a:prstGeom>
          <a:noFill/>
        </p:spPr>
        <p:txBody>
          <a:bodyPr wrap="square">
            <a:spAutoFit/>
          </a:bodyPr>
          <a:lstStyle/>
          <a:p>
            <a:pPr algn="l">
              <a:lnSpc>
                <a:spcPct val="100000"/>
              </a:lnSpc>
              <a:spcAft>
                <a:spcPts val="100"/>
              </a:spcAft>
            </a:pPr>
            <a:r>
              <a:rPr sz="1200" b="1" i="0">
                <a:solidFill>
                  <a:srgbClr val="1A1A1A"/>
                </a:solidFill>
                <a:latin typeface="Palatino Linotype"/>
              </a:rPr>
              <a:t>Strategy</a:t>
            </a:r>
          </a:p>
          <a:p>
            <a:pPr algn="l">
              <a:lnSpc>
                <a:spcPct val="100000"/>
              </a:lnSpc>
              <a:spcAft>
                <a:spcPts val="100"/>
              </a:spcAft>
            </a:pPr>
            <a:r>
              <a:rPr sz="950" b="0" i="0">
                <a:solidFill>
                  <a:srgbClr val="1A1A1A"/>
                </a:solidFill>
                <a:latin typeface="Palatino Linotype"/>
              </a:rPr>
              <a:t>Prior-anchoring is what makes it stable —</a:t>
            </a:r>
          </a:p>
          <a:p>
            <a:pPr algn="l">
              <a:lnSpc>
                <a:spcPct val="100000"/>
              </a:lnSpc>
              <a:spcAft>
                <a:spcPts val="100"/>
              </a:spcAft>
            </a:pPr>
            <a:r>
              <a:rPr sz="950" b="0" i="0">
                <a:solidFill>
                  <a:srgbClr val="1A1A1A"/>
                </a:solidFill>
                <a:latin typeface="Palatino Linotype"/>
              </a:rPr>
              <a:t>no exploration problem, no reward hacking</a:t>
            </a:r>
          </a:p>
          <a:p>
            <a:pPr algn="l">
              <a:lnSpc>
                <a:spcPct val="100000"/>
              </a:lnSpc>
              <a:spcAft>
                <a:spcPts val="100"/>
              </a:spcAft>
            </a:pPr>
            <a:r>
              <a:rPr sz="950" b="0" i="0">
                <a:solidFill>
                  <a:srgbClr val="1A1A1A"/>
                </a:solidFill>
                <a:latin typeface="Palatino Linotype"/>
              </a:rPr>
              <a:t>as long as σ is moderate.</a:t>
            </a:r>
          </a:p>
        </p:txBody>
      </p:sp>
      <p:sp>
        <p:nvSpPr>
          <p:cNvPr id="16" name="Rectangle 15"/>
          <p:cNvSpPr/>
          <p:nvPr/>
        </p:nvSpPr>
        <p:spPr>
          <a:xfrm>
            <a:off x="0" y="6263640"/>
            <a:ext cx="12191695" cy="59436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lIns="182880"/>
          <a:lstStyle/>
          <a:p>
            <a:pPr algn="ctr">
              <a:spcAft>
                <a:spcPts val="100"/>
              </a:spcAft>
            </a:pPr>
            <a:r>
              <a:rPr sz="850" b="1">
                <a:solidFill>
                  <a:srgbClr val="C8A25A"/>
                </a:solidFill>
                <a:latin typeface="Palatino Linotype"/>
              </a:rPr>
              <a:t>STRUCTURE  </a:t>
            </a:r>
            <a:r>
              <a:rPr sz="850">
                <a:solidFill>
                  <a:srgbClr val="E8E8E8"/>
                </a:solidFill>
                <a:latin typeface="Consolas"/>
              </a:rPr>
              <a:t>prior, agent: GPT2LMHeadModel (frozen / trainable copy) · batch: list[str]</a:t>
            </a:r>
          </a:p>
          <a:p>
            <a:r>
              <a:rPr sz="850" b="1">
                <a:solidFill>
                  <a:srgbClr val="C8A25A"/>
                </a:solidFill>
                <a:latin typeface="Palatino Linotype"/>
              </a:rPr>
              <a:t>TYPE  </a:t>
            </a:r>
            <a:r>
              <a:rPr sz="850">
                <a:solidFill>
                  <a:srgbClr val="E8E8E8"/>
                </a:solidFill>
                <a:latin typeface="Consolas"/>
              </a:rPr>
              <a:t>log P_prior, log P_agent: torch.Tensor (grad) · S(x): float · loss: torch.Tensor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pPr algn="l">
              <a:spcAft>
                <a:spcPts val="200"/>
              </a:spcAft>
            </a:pPr>
            <a:r>
              <a:rPr sz="2100" b="1" i="0">
                <a:solidFill>
                  <a:srgbClr val="1A1A1A"/>
                </a:solidFill>
                <a:latin typeface="Palatino Linotype"/>
              </a:rPr>
              <a:t>The differentiable span log-likelihood, and a saturated baseline</a:t>
            </a:r>
          </a:p>
        </p:txBody>
      </p:sp>
      <p:sp>
        <p:nvSpPr>
          <p:cNvPr id="3" name="Rectangle 2"/>
          <p:cNvSpPr/>
          <p:nvPr/>
        </p:nvSpPr>
        <p:spPr>
          <a:xfrm>
            <a:off x="502920" y="914400"/>
            <a:ext cx="6217920" cy="27432"/>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502920" y="1143000"/>
            <a:ext cx="5486400" cy="1371600"/>
          </a:xfrm>
          <a:prstGeom prst="roundRect">
            <a:avLst/>
          </a:prstGeom>
          <a:solidFill>
            <a:srgbClr val="F2F2F2"/>
          </a:solidFill>
          <a:ln w="1397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200" b="1">
                <a:solidFill>
                  <a:srgbClr val="1A1A1A"/>
                </a:solidFill>
                <a:latin typeface="Palatino Linotype"/>
              </a:rPr>
              <a:t>The quantity RL optimizes</a:t>
            </a:r>
          </a:p>
          <a:p>
            <a:pPr algn="ctr">
              <a:spcBef>
                <a:spcPts val="200"/>
              </a:spcBef>
            </a:pPr>
            <a:r>
              <a:rPr sz="950">
                <a:solidFill>
                  <a:srgbClr val="1A1A1A"/>
                </a:solidFill>
                <a:latin typeface="Palatino Linotype"/>
              </a:rPr>
              <a:t>Sum of per-token log-probs over the CDRH3 span only. Made differentiable so gradients flow into the agent — IgLM's own log_likelihood is detached and useless for training.</a:t>
            </a:r>
          </a:p>
        </p:txBody>
      </p:sp>
      <p:sp>
        <p:nvSpPr>
          <p:cNvPr id="5" name="Rounded Rectangle 4"/>
          <p:cNvSpPr/>
          <p:nvPr/>
        </p:nvSpPr>
        <p:spPr>
          <a:xfrm>
            <a:off x="502920" y="2697480"/>
            <a:ext cx="5486400" cy="1051560"/>
          </a:xfrm>
          <a:prstGeom prst="roundRect">
            <a:avLst/>
          </a:prstGeom>
          <a:solidFill>
            <a:srgbClr val="FFFFFF"/>
          </a:solidFill>
          <a:ln w="13970">
            <a:solidFill>
              <a:srgbClr val="1A9850"/>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50" b="1">
                <a:solidFill>
                  <a:srgbClr val="1A9850"/>
                </a:solidFill>
                <a:latin typeface="Palatino Linotype"/>
              </a:rPr>
              <a:t>Fidelity check (a guardrail)</a:t>
            </a:r>
          </a:p>
          <a:p>
            <a:pPr algn="ctr">
              <a:spcBef>
                <a:spcPts val="200"/>
              </a:spcBef>
            </a:pPr>
            <a:r>
              <a:rPr sz="950">
                <a:solidFill>
                  <a:srgbClr val="1A1A1A"/>
                </a:solidFill>
                <a:latin typeface="Palatino Linotype"/>
              </a:rPr>
              <a:t>Our span log-prob must equal IgLM's native value to &lt;1e-3, or every gradient trains the wrong objective. Match: −2.0315 = −2.0315 ✓</a:t>
            </a:r>
          </a:p>
        </p:txBody>
      </p:sp>
      <p:sp>
        <p:nvSpPr>
          <p:cNvPr id="6" name="TextBox 5"/>
          <p:cNvSpPr txBox="1"/>
          <p:nvPr/>
        </p:nvSpPr>
        <p:spPr>
          <a:xfrm>
            <a:off x="6263640" y="1097280"/>
            <a:ext cx="5486400" cy="365760"/>
          </a:xfrm>
          <a:prstGeom prst="rect">
            <a:avLst/>
          </a:prstGeom>
          <a:noFill/>
        </p:spPr>
        <p:txBody>
          <a:bodyPr wrap="square">
            <a:spAutoFit/>
          </a:bodyPr>
          <a:lstStyle/>
          <a:p>
            <a:pPr algn="l">
              <a:spcAft>
                <a:spcPts val="200"/>
              </a:spcAft>
            </a:pPr>
            <a:r>
              <a:rPr sz="1050" b="1" i="0">
                <a:solidFill>
                  <a:srgbClr val="1A1A1A"/>
                </a:solidFill>
                <a:latin typeface="Palatino Linotype"/>
              </a:rPr>
              <a:t>Baseline run — developability reward:</a:t>
            </a:r>
          </a:p>
        </p:txBody>
      </p:sp>
      <p:pic>
        <p:nvPicPr>
          <p:cNvPr id="7" name="Picture 6" descr="nb05_baseline.png"/>
          <p:cNvPicPr>
            <a:picLocks noChangeAspect="1"/>
          </p:cNvPicPr>
          <p:nvPr/>
        </p:nvPicPr>
        <p:blipFill>
          <a:blip r:embed="rId2"/>
          <a:stretch>
            <a:fillRect/>
          </a:stretch>
        </p:blipFill>
        <p:spPr>
          <a:xfrm>
            <a:off x="6126480" y="1371600"/>
            <a:ext cx="5852160" cy="1947433"/>
          </a:xfrm>
          <a:prstGeom prst="rect">
            <a:avLst/>
          </a:prstGeom>
        </p:spPr>
      </p:pic>
      <p:sp>
        <p:nvSpPr>
          <p:cNvPr id="8" name="TextBox 7"/>
          <p:cNvSpPr txBox="1"/>
          <p:nvPr/>
        </p:nvSpPr>
        <p:spPr>
          <a:xfrm>
            <a:off x="6263640" y="3063240"/>
            <a:ext cx="5486400" cy="685800"/>
          </a:xfrm>
          <a:prstGeom prst="rect">
            <a:avLst/>
          </a:prstGeom>
          <a:noFill/>
        </p:spPr>
        <p:txBody>
          <a:bodyPr wrap="square">
            <a:spAutoFit/>
          </a:bodyPr>
          <a:lstStyle/>
          <a:p>
            <a:pPr algn="l">
              <a:lnSpc>
                <a:spcPct val="100000"/>
              </a:lnSpc>
              <a:spcAft>
                <a:spcPts val="200"/>
              </a:spcAft>
            </a:pPr>
            <a:r>
              <a:rPr sz="950" b="0" i="1">
                <a:solidFill>
                  <a:srgbClr val="555555"/>
                </a:solidFill>
                <a:latin typeface="Palatino Linotype"/>
              </a:rPr>
              <a:t>Reward stays flat at ~0.75; the pool starts already-good (mean 0.78) → SATURATED, little to optimize.</a:t>
            </a:r>
          </a:p>
        </p:txBody>
      </p:sp>
      <p:sp>
        <p:nvSpPr>
          <p:cNvPr id="9" name="TextBox 8"/>
          <p:cNvSpPr txBox="1"/>
          <p:nvPr/>
        </p:nvSpPr>
        <p:spPr>
          <a:xfrm>
            <a:off x="502920" y="3977639"/>
            <a:ext cx="3657600" cy="1828800"/>
          </a:xfrm>
          <a:prstGeom prst="rect">
            <a:avLst/>
          </a:prstGeom>
          <a:noFill/>
        </p:spPr>
        <p:txBody>
          <a:bodyPr wrap="square">
            <a:spAutoFit/>
          </a:bodyPr>
          <a:lstStyle/>
          <a:p>
            <a:pPr algn="l">
              <a:lnSpc>
                <a:spcPct val="100000"/>
              </a:lnSpc>
              <a:spcAft>
                <a:spcPts val="100"/>
              </a:spcAft>
            </a:pPr>
            <a:r>
              <a:rPr sz="1150" b="1" i="0">
                <a:solidFill>
                  <a:srgbClr val="1A1A1A"/>
                </a:solidFill>
                <a:latin typeface="Palatino Linotype"/>
              </a:rPr>
              <a:t>Biology</a:t>
            </a:r>
          </a:p>
          <a:p>
            <a:pPr algn="l">
              <a:lnSpc>
                <a:spcPct val="100000"/>
              </a:lnSpc>
              <a:spcAft>
                <a:spcPts val="100"/>
              </a:spcAft>
            </a:pPr>
            <a:r>
              <a:rPr sz="900" b="0" i="0">
                <a:solidFill>
                  <a:srgbClr val="1A1A1A"/>
                </a:solidFill>
                <a:latin typeface="Palatino Linotype"/>
              </a:rPr>
              <a:t>Score only the loop, not the fixed framework — the framework is constant across candidates.</a:t>
            </a:r>
          </a:p>
        </p:txBody>
      </p:sp>
      <p:sp>
        <p:nvSpPr>
          <p:cNvPr id="10" name="TextBox 9"/>
          <p:cNvSpPr txBox="1"/>
          <p:nvPr/>
        </p:nvSpPr>
        <p:spPr>
          <a:xfrm>
            <a:off x="4343400" y="3977639"/>
            <a:ext cx="3657600" cy="1828800"/>
          </a:xfrm>
          <a:prstGeom prst="rect">
            <a:avLst/>
          </a:prstGeom>
          <a:noFill/>
        </p:spPr>
        <p:txBody>
          <a:bodyPr wrap="square">
            <a:spAutoFit/>
          </a:bodyPr>
          <a:lstStyle/>
          <a:p>
            <a:pPr algn="l">
              <a:lnSpc>
                <a:spcPct val="100000"/>
              </a:lnSpc>
              <a:spcAft>
                <a:spcPts val="100"/>
              </a:spcAft>
            </a:pPr>
            <a:r>
              <a:rPr sz="1150" b="1" i="0">
                <a:solidFill>
                  <a:srgbClr val="1A1A1A"/>
                </a:solidFill>
                <a:latin typeface="Palatino Linotype"/>
              </a:rPr>
              <a:t>Computation</a:t>
            </a:r>
          </a:p>
          <a:p>
            <a:pPr algn="l">
              <a:lnSpc>
                <a:spcPct val="100000"/>
              </a:lnSpc>
              <a:spcAft>
                <a:spcPts val="100"/>
              </a:spcAft>
            </a:pPr>
            <a:r>
              <a:rPr sz="900" b="0" i="0">
                <a:solidFill>
                  <a:srgbClr val="1A1A1A"/>
                </a:solidFill>
                <a:latin typeface="Palatino Linotype"/>
              </a:rPr>
              <a:t>log_softmax over the VOCAB axis (dim=-1); next-token shift; gather the actual token; sum over the span (incl. final EOS).</a:t>
            </a:r>
          </a:p>
        </p:txBody>
      </p:sp>
      <p:sp>
        <p:nvSpPr>
          <p:cNvPr id="11" name="TextBox 10"/>
          <p:cNvSpPr txBox="1"/>
          <p:nvPr/>
        </p:nvSpPr>
        <p:spPr>
          <a:xfrm>
            <a:off x="8183879" y="3977639"/>
            <a:ext cx="3657600" cy="1828800"/>
          </a:xfrm>
          <a:prstGeom prst="rect">
            <a:avLst/>
          </a:prstGeom>
          <a:noFill/>
        </p:spPr>
        <p:txBody>
          <a:bodyPr wrap="square">
            <a:spAutoFit/>
          </a:bodyPr>
          <a:lstStyle/>
          <a:p>
            <a:pPr algn="l">
              <a:lnSpc>
                <a:spcPct val="100000"/>
              </a:lnSpc>
              <a:spcAft>
                <a:spcPts val="100"/>
              </a:spcAft>
            </a:pPr>
            <a:r>
              <a:rPr sz="1150" b="1" i="0">
                <a:solidFill>
                  <a:srgbClr val="1A1A1A"/>
                </a:solidFill>
                <a:latin typeface="Palatino Linotype"/>
              </a:rPr>
              <a:t>Strategy</a:t>
            </a:r>
          </a:p>
          <a:p>
            <a:pPr algn="l">
              <a:lnSpc>
                <a:spcPct val="100000"/>
              </a:lnSpc>
              <a:spcAft>
                <a:spcPts val="100"/>
              </a:spcAft>
            </a:pPr>
            <a:r>
              <a:rPr sz="900" b="0" i="0">
                <a:solidFill>
                  <a:srgbClr val="1A1A1A"/>
                </a:solidFill>
                <a:latin typeface="Palatino Linotype"/>
              </a:rPr>
              <a:t>The flat curve is not a failure — it is a correct diagnosis of saturation, and it motivates switching the objective to binding.</a:t>
            </a:r>
          </a:p>
        </p:txBody>
      </p:sp>
      <p:sp>
        <p:nvSpPr>
          <p:cNvPr id="12" name="Rectangle 11"/>
          <p:cNvSpPr/>
          <p:nvPr/>
        </p:nvSpPr>
        <p:spPr>
          <a:xfrm>
            <a:off x="0" y="6263640"/>
            <a:ext cx="12191695" cy="59436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lIns="182880"/>
          <a:lstStyle/>
          <a:p>
            <a:pPr algn="ctr">
              <a:spcAft>
                <a:spcPts val="100"/>
              </a:spcAft>
            </a:pPr>
            <a:r>
              <a:rPr sz="850" b="1">
                <a:solidFill>
                  <a:srgbClr val="C8A25A"/>
                </a:solidFill>
                <a:latin typeface="Palatino Linotype"/>
              </a:rPr>
              <a:t>STRUCTURE  </a:t>
            </a:r>
            <a:r>
              <a:rPr sz="850">
                <a:solidFill>
                  <a:srgbClr val="E8E8E8"/>
                </a:solidFill>
                <a:latin typeface="Consolas"/>
              </a:rPr>
              <a:t>logits: torch.Tensor [seq_len, vocab] · ids: torch.LongTensor [1, seq_len] · SEP index: int</a:t>
            </a:r>
          </a:p>
          <a:p>
            <a:r>
              <a:rPr sz="850" b="1">
                <a:solidFill>
                  <a:srgbClr val="C8A25A"/>
                </a:solidFill>
                <a:latin typeface="Palatino Linotype"/>
              </a:rPr>
              <a:t>TYPE  </a:t>
            </a:r>
            <a:r>
              <a:rPr sz="850">
                <a:solidFill>
                  <a:srgbClr val="E8E8E8"/>
                </a:solidFill>
                <a:latin typeface="Consolas"/>
              </a:rPr>
              <a:t>log-probs: torch.Tensor (grad) · span sum: torch.Tensor scalar · fidelity: bool assert</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274320"/>
            <a:ext cx="11247120" cy="640080"/>
          </a:xfrm>
          <a:prstGeom prst="rect">
            <a:avLst/>
          </a:prstGeom>
          <a:noFill/>
        </p:spPr>
        <p:txBody>
          <a:bodyPr wrap="square">
            <a:spAutoFit/>
          </a:bodyPr>
          <a:lstStyle/>
          <a:p>
            <a:pPr algn="l">
              <a:spcAft>
                <a:spcPts val="200"/>
              </a:spcAft>
            </a:pPr>
            <a:r>
              <a:rPr sz="2100" b="1" i="0">
                <a:solidFill>
                  <a:srgbClr val="1A1A1A"/>
                </a:solidFill>
                <a:latin typeface="Palatino Linotype"/>
              </a:rPr>
              <a:t>Proof the loop optimizes — positive control and ablations</a:t>
            </a:r>
          </a:p>
        </p:txBody>
      </p:sp>
      <p:sp>
        <p:nvSpPr>
          <p:cNvPr id="3" name="Rectangle 2"/>
          <p:cNvSpPr/>
          <p:nvPr/>
        </p:nvSpPr>
        <p:spPr>
          <a:xfrm>
            <a:off x="502920" y="914400"/>
            <a:ext cx="6217920" cy="27432"/>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502920" y="1051560"/>
            <a:ext cx="5669280" cy="365760"/>
          </a:xfrm>
          <a:prstGeom prst="rect">
            <a:avLst/>
          </a:prstGeom>
          <a:noFill/>
        </p:spPr>
        <p:txBody>
          <a:bodyPr wrap="square">
            <a:spAutoFit/>
          </a:bodyPr>
          <a:lstStyle/>
          <a:p>
            <a:pPr algn="l">
              <a:spcAft>
                <a:spcPts val="200"/>
              </a:spcAft>
            </a:pPr>
            <a:r>
              <a:rPr sz="1050" b="1" i="0">
                <a:solidFill>
                  <a:srgbClr val="1A1A1A"/>
                </a:solidFill>
                <a:latin typeface="Palatino Linotype"/>
              </a:rPr>
              <a:t>Positive control — a proxy reward that MUST move:</a:t>
            </a:r>
          </a:p>
        </p:txBody>
      </p:sp>
      <p:pic>
        <p:nvPicPr>
          <p:cNvPr id="5" name="Picture 4" descr="nb05_proxy.png"/>
          <p:cNvPicPr>
            <a:picLocks noChangeAspect="1"/>
          </p:cNvPicPr>
          <p:nvPr/>
        </p:nvPicPr>
        <p:blipFill>
          <a:blip r:embed="rId2"/>
          <a:stretch>
            <a:fillRect/>
          </a:stretch>
        </p:blipFill>
        <p:spPr>
          <a:xfrm>
            <a:off x="502920" y="1371600"/>
            <a:ext cx="5760720" cy="1845368"/>
          </a:xfrm>
          <a:prstGeom prst="rect">
            <a:avLst/>
          </a:prstGeom>
        </p:spPr>
      </p:pic>
      <p:sp>
        <p:nvSpPr>
          <p:cNvPr id="6" name="TextBox 5"/>
          <p:cNvSpPr txBox="1"/>
          <p:nvPr/>
        </p:nvSpPr>
        <p:spPr>
          <a:xfrm>
            <a:off x="502920" y="3063240"/>
            <a:ext cx="5760720" cy="685800"/>
          </a:xfrm>
          <a:prstGeom prst="rect">
            <a:avLst/>
          </a:prstGeom>
          <a:noFill/>
        </p:spPr>
        <p:txBody>
          <a:bodyPr wrap="square">
            <a:spAutoFit/>
          </a:bodyPr>
          <a:lstStyle/>
          <a:p>
            <a:pPr algn="l">
              <a:lnSpc>
                <a:spcPct val="100000"/>
              </a:lnSpc>
              <a:spcAft>
                <a:spcPts val="200"/>
              </a:spcAft>
            </a:pPr>
            <a:r>
              <a:rPr sz="950" b="0" i="1">
                <a:solidFill>
                  <a:srgbClr val="1A9850"/>
                </a:solidFill>
                <a:latin typeface="Palatino Linotype"/>
              </a:rPr>
              <a:t>Tyrosine fraction rises 0.12 → 0.52 on all 3 seeds → the machinery optimizes; the flat baseline was saturation, not a broken loop.</a:t>
            </a:r>
          </a:p>
        </p:txBody>
      </p:sp>
      <p:sp>
        <p:nvSpPr>
          <p:cNvPr id="7" name="Rounded Rectangle 6"/>
          <p:cNvSpPr/>
          <p:nvPr/>
        </p:nvSpPr>
        <p:spPr>
          <a:xfrm>
            <a:off x="6400800" y="1188720"/>
            <a:ext cx="5394960" cy="868680"/>
          </a:xfrm>
          <a:prstGeom prst="roundRect">
            <a:avLst/>
          </a:prstGeom>
          <a:solidFill>
            <a:srgbClr val="F2F2F2"/>
          </a:solidFill>
          <a:ln w="1397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1A1A1A"/>
                </a:solidFill>
                <a:latin typeface="Palatino Linotype"/>
              </a:rPr>
              <a:t>Ablation — σ (how hard to push)</a:t>
            </a:r>
          </a:p>
          <a:p>
            <a:pPr algn="ctr">
              <a:spcBef>
                <a:spcPts val="200"/>
              </a:spcBef>
            </a:pPr>
            <a:r>
              <a:rPr sz="900">
                <a:solidFill>
                  <a:srgbClr val="1A1A1A"/>
                </a:solidFill>
                <a:latin typeface="Palatino Linotype"/>
              </a:rPr>
              <a:t>5 / 15 / 30 all stay ~0.75 on a saturated reward; higher σ only increases divergence from the prior.</a:t>
            </a:r>
          </a:p>
        </p:txBody>
      </p:sp>
      <p:sp>
        <p:nvSpPr>
          <p:cNvPr id="8" name="Rounded Rectangle 7"/>
          <p:cNvSpPr/>
          <p:nvPr/>
        </p:nvSpPr>
        <p:spPr>
          <a:xfrm>
            <a:off x="6400800" y="2194560"/>
            <a:ext cx="5394960" cy="868680"/>
          </a:xfrm>
          <a:prstGeom prst="roundRect">
            <a:avLst/>
          </a:prstGeom>
          <a:solidFill>
            <a:srgbClr val="FFFFFF"/>
          </a:solidFill>
          <a:ln w="13970">
            <a:solidFill>
              <a:srgbClr val="1A1A1A"/>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1A1A1A"/>
                </a:solidFill>
                <a:latin typeface="Palatino Linotype"/>
              </a:rPr>
              <a:t>Ablation — batch size (spiky curves)</a:t>
            </a:r>
          </a:p>
          <a:p>
            <a:pPr algn="ctr">
              <a:spcBef>
                <a:spcPts val="200"/>
              </a:spcBef>
            </a:pPr>
            <a:r>
              <a:rPr sz="900">
                <a:solidFill>
                  <a:srgbClr val="1A1A1A"/>
                </a:solidFill>
                <a:latin typeface="Palatino Linotype"/>
              </a:rPr>
              <a:t>Roughness 0.025 → 0.011 as batch 8 → 32, tracking 1/√n. The spikes are sampling variance, NOT instability.</a:t>
            </a:r>
          </a:p>
        </p:txBody>
      </p:sp>
      <p:sp>
        <p:nvSpPr>
          <p:cNvPr id="9" name="Rounded Rectangle 8"/>
          <p:cNvSpPr/>
          <p:nvPr/>
        </p:nvSpPr>
        <p:spPr>
          <a:xfrm>
            <a:off x="6400800" y="3200400"/>
            <a:ext cx="5394960" cy="868680"/>
          </a:xfrm>
          <a:prstGeom prst="roundRect">
            <a:avLst/>
          </a:prstGeom>
          <a:solidFill>
            <a:srgbClr val="FFFFFF"/>
          </a:solidFill>
          <a:ln w="13970">
            <a:solidFill>
              <a:srgbClr val="B2182B"/>
            </a:solidFill>
          </a:ln>
          <a:effectLst/>
        </p:spPr>
        <p:style>
          <a:lnRef idx="1">
            <a:schemeClr val="accent1"/>
          </a:lnRef>
          <a:fillRef idx="3">
            <a:schemeClr val="accent1"/>
          </a:fillRef>
          <a:effectRef idx="2">
            <a:schemeClr val="accent1"/>
          </a:effectRef>
          <a:fontRef idx="minor">
            <a:schemeClr val="lt1"/>
          </a:fontRef>
        </p:style>
        <p:txBody>
          <a:bodyPr rtlCol="0" anchor="ctr" wrap="square" lIns="73152" rIns="73152"/>
          <a:lstStyle/>
          <a:p>
            <a:pPr algn="ctr"/>
            <a:r>
              <a:rPr sz="1100" b="1">
                <a:solidFill>
                  <a:srgbClr val="B2182B"/>
                </a:solidFill>
                <a:latin typeface="Palatino Linotype"/>
              </a:rPr>
              <a:t>Ablation — length guard</a:t>
            </a:r>
          </a:p>
          <a:p>
            <a:pPr algn="ctr">
              <a:spcBef>
                <a:spcPts val="200"/>
              </a:spcBef>
            </a:pPr>
            <a:r>
              <a:rPr sz="900">
                <a:solidFill>
                  <a:srgbClr val="1A1A1A"/>
                </a:solidFill>
                <a:latin typeface="Palatino Linotype"/>
              </a:rPr>
              <a:t>Short loops score higher log-prob → reward hacking. Guard zeros loops &lt; 4 residues.</a:t>
            </a:r>
          </a:p>
        </p:txBody>
      </p:sp>
      <p:sp>
        <p:nvSpPr>
          <p:cNvPr id="10" name="Rounded Rectangle 9"/>
          <p:cNvSpPr/>
          <p:nvPr/>
        </p:nvSpPr>
        <p:spPr>
          <a:xfrm>
            <a:off x="502920" y="3977639"/>
            <a:ext cx="11292840" cy="1280160"/>
          </a:xfrm>
          <a:prstGeom prst="roundRect">
            <a:avLst/>
          </a:prstGeom>
          <a:solidFill>
            <a:srgbClr val="FFFFFF"/>
          </a:solidFill>
          <a:ln w="1270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wrap="square" lIns="182880" tIns="91440"/>
          <a:lstStyle/>
          <a:p>
            <a:pPr algn="ctr"/>
            <a:r>
              <a:rPr sz="1200" b="1">
                <a:solidFill>
                  <a:srgbClr val="1A1A1A"/>
                </a:solidFill>
                <a:latin typeface="Palatino Linotype"/>
              </a:rPr>
              <a:t>Synthesis</a:t>
            </a:r>
          </a:p>
          <a:p>
            <a:pPr>
              <a:spcBef>
                <a:spcPts val="300"/>
              </a:spcBef>
            </a:pPr>
            <a:r>
              <a:rPr sz="950">
                <a:solidFill>
                  <a:srgbClr val="1A1A1A"/>
                </a:solidFill>
                <a:latin typeface="Palatino Linotype"/>
              </a:rPr>
              <a:t>•  The loop optimizes exactly when the reward has headroom (proxy rises; developability, already saturated, stays flat)</a:t>
            </a:r>
          </a:p>
          <a:p>
            <a:pPr>
              <a:spcBef>
                <a:spcPts val="300"/>
              </a:spcBef>
            </a:pPr>
            <a:r>
              <a:rPr sz="950">
                <a:solidFill>
                  <a:srgbClr val="1A1A1A"/>
                </a:solidFill>
                <a:latin typeface="Palatino Linotype"/>
              </a:rPr>
              <a:t>•  Spiky curves = sampling variance (1/√batch), a diagnostic not a bug; a length guard blocks the obvious reward-hack</a:t>
            </a:r>
          </a:p>
          <a:p>
            <a:pPr>
              <a:spcBef>
                <a:spcPts val="300"/>
              </a:spcBef>
            </a:pPr>
            <a:r>
              <a:rPr sz="950">
                <a:solidFill>
                  <a:srgbClr val="1A1A1A"/>
                </a:solidFill>
                <a:latin typeface="Palatino Linotype"/>
              </a:rPr>
              <a:t>•  This controlled setup is what makes the binding result (next) rigorous: same loop, same code, different headroom</a:t>
            </a:r>
          </a:p>
        </p:txBody>
      </p:sp>
      <p:sp>
        <p:nvSpPr>
          <p:cNvPr id="11" name="Rectangle 10"/>
          <p:cNvSpPr/>
          <p:nvPr/>
        </p:nvSpPr>
        <p:spPr>
          <a:xfrm>
            <a:off x="0" y="6263640"/>
            <a:ext cx="12191695" cy="594360"/>
          </a:xfrm>
          <a:prstGeom prst="rect">
            <a:avLst/>
          </a:prstGeom>
          <a:solidFill>
            <a:srgbClr val="1A1A1A"/>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tIns="36576" lIns="182880"/>
          <a:lstStyle/>
          <a:p>
            <a:pPr algn="ctr">
              <a:spcAft>
                <a:spcPts val="100"/>
              </a:spcAft>
            </a:pPr>
            <a:r>
              <a:rPr sz="850" b="1">
                <a:solidFill>
                  <a:srgbClr val="C8A25A"/>
                </a:solidFill>
                <a:latin typeface="Palatino Linotype"/>
              </a:rPr>
              <a:t>STRUCTURE  </a:t>
            </a:r>
            <a:r>
              <a:rPr sz="850">
                <a:solidFill>
                  <a:srgbClr val="E8E8E8"/>
                </a:solidFill>
                <a:latin typeface="Consolas"/>
              </a:rPr>
              <a:t>histories: dict[seed → list[dict]] · reward/KL curves: np.ndarray [n_seeds, n_steps]</a:t>
            </a:r>
          </a:p>
          <a:p>
            <a:r>
              <a:rPr sz="850" b="1">
                <a:solidFill>
                  <a:srgbClr val="C8A25A"/>
                </a:solidFill>
                <a:latin typeface="Palatino Linotype"/>
              </a:rPr>
              <a:t>TYPE  </a:t>
            </a:r>
            <a:r>
              <a:rPr sz="850">
                <a:solidFill>
                  <a:srgbClr val="E8E8E8"/>
                </a:solidFill>
                <a:latin typeface="Consolas"/>
              </a:rPr>
              <a:t>mean_R, kl_proxy: float per step · roughness: float · guard threshold: int (4)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