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explicar el oraculo de binding hice mutagenesis de saturacion in-silico. El oraculo es una caja negra -ESM mas regresion, o el one-hot mas MLP- y esto la abre. El metodo: tomo el CDRH3 wild-type de trastuzumab, WGGDGFYAMD, que el modelo puntua en cero coma noventa y siete. Despues, posicion por posicion, lo muto a los veinte aminoacidos posibles y vuelvo a puntuar. Son doscientas evaluaciones -diez posiciones por veinte aminoacidos. La sensibilidad de una posicion es cuanto varia la probabilidad de binder al sustituirla. Un detalle tecnico: para esto uso el modelo one-hot, no el ESM, porque necesito posiciones fijas de un diez-mero para indexar exactamente. El resultado: el wild-type ya esta casi optimo -casi cualquier mutacion empeora. La posicion ocho es la que manda, la mas sensible; mutarla de alanina a lisina hace colapsar el binding de cero coma noventa y siete a cero coma veintidos. Y hay un ranking claro de sensibilidad: ocho, luego diez, cinco, uno. Que prueba esto, dos cosas. Biologicamente, las posiciones sensibles son candidatas a ser residuos de contacto con el antigeno, el paratopo. Y en terminos de modelo, prueba que el oraculo aprendio senal posicional real y consistente, no ruido. Estrategicamente, esto es interpretabilidad: no solo predigo binding, sino que nombro que residuos lo determinan, y eso es accionable para diseno.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A1A1A"/>
                </a:solidFill>
                <a:latin typeface="Palatino Linotype"/>
              </a:rPr>
              <a:t>Explaining the binding oracle — saturation mutagenesis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14400"/>
            <a:ext cx="6217920" cy="2743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969264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0" i="1">
                <a:solidFill>
                  <a:srgbClr val="555555"/>
                </a:solidFill>
                <a:latin typeface="Palatino Linotype"/>
              </a:rPr>
              <a:t>Mutate every position of the WT trastuzumab CDRH3 to all 20 amino acids, re-score, and map the change in P(binder). Opens the black box.</a:t>
            </a:r>
          </a:p>
        </p:txBody>
      </p:sp>
      <p:pic>
        <p:nvPicPr>
          <p:cNvPr id="5" name="Picture 4" descr="nb06_xai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680960" cy="32017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43484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900" b="0" i="1">
                <a:solidFill>
                  <a:srgbClr val="555555"/>
                </a:solidFill>
                <a:latin typeface="Palatino Linotype"/>
              </a:rPr>
              <a:t>Heatmap: rows = substituted AA, columns = position. Star = WT residue. Blue = binding lost.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75320" y="1508760"/>
            <a:ext cx="3429000" cy="1005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A98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A9850"/>
                </a:solidFill>
                <a:latin typeface="Palatino Linotype"/>
              </a:rPr>
              <a:t>WT is near-optimal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Palatino Linotype"/>
              </a:rPr>
              <a:t>WGGDGFYAMD scores P(binder)=0.97; most mutations only hurt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2606040"/>
            <a:ext cx="3429000" cy="1051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218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B2182B"/>
                </a:solidFill>
                <a:latin typeface="Palatino Linotype"/>
              </a:rPr>
              <a:t>Position 8 dominates</a:t>
            </a:r>
          </a:p>
          <a:p>
            <a:pPr algn="ctr">
              <a:spcBef>
                <a:spcPts val="200"/>
              </a:spcBef>
            </a:pPr>
            <a:r>
              <a:rPr sz="900">
                <a:solidFill>
                  <a:srgbClr val="1A1A1A"/>
                </a:solidFill>
                <a:latin typeface="Palatino Linotype"/>
              </a:rPr>
              <a:t>most sensitive (0.163); A→K collapses binding 0.97 → 0.22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3703320"/>
            <a:ext cx="3429000" cy="1188720"/>
          </a:xfrm>
          <a:prstGeom prst="roundRect">
            <a:avLst/>
          </a:prstGeom>
          <a:solidFill>
            <a:srgbClr val="F2F2F2"/>
          </a:solidFill>
          <a:ln w="1524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A1A1A"/>
                </a:solidFill>
                <a:latin typeface="Palatino Linotype"/>
              </a:rPr>
              <a:t>Positional signal is real</a:t>
            </a:r>
          </a:p>
          <a:p>
            <a:pPr algn="ctr">
              <a:spcBef>
                <a:spcPts val="200"/>
              </a:spcBef>
            </a:pPr>
            <a:r>
              <a:rPr sz="850">
                <a:solidFill>
                  <a:srgbClr val="1A1A1A"/>
                </a:solidFill>
                <a:latin typeface="Palatino Linotype"/>
              </a:rPr>
              <a:t>sensitivity ranking 8 &gt; 10 &gt; 5 &gt; 1 — the oracle learned which residues are the paratope, not noise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937760"/>
            <a:ext cx="3657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Biology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80" b="0" i="0">
                <a:solidFill>
                  <a:srgbClr val="1A1A1A"/>
                </a:solidFill>
                <a:latin typeface="Palatino Linotype"/>
              </a:rPr>
              <a:t>The sensitive positions are candidate antigen-contact residues (paratope); mutating them breaks binding.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93776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Computation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80" b="0" i="0">
                <a:solidFill>
                  <a:srgbClr val="1A1A1A"/>
                </a:solidFill>
                <a:latin typeface="Palatino Linotype"/>
              </a:rPr>
              <a:t>200 forward passes (10 pos × 20 AA) through the one-hot model — fixed 10-mer, so exact position indexing.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4937760"/>
            <a:ext cx="374903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1100" b="1" i="0">
                <a:solidFill>
                  <a:srgbClr val="1A1A1A"/>
                </a:solidFill>
                <a:latin typeface="Palatino Linotype"/>
              </a:rPr>
              <a:t>Strategy</a:t>
            </a:r>
          </a:p>
          <a:p>
            <a:pPr algn="l">
              <a:lnSpc>
                <a:spcPct val="100000"/>
              </a:lnSpc>
              <a:spcAft>
                <a:spcPts val="100"/>
              </a:spcAft>
            </a:pPr>
            <a:r>
              <a:rPr sz="880" b="0" i="0">
                <a:solidFill>
                  <a:srgbClr val="1A1A1A"/>
                </a:solidFill>
                <a:latin typeface="Palatino Linotype"/>
              </a:rPr>
              <a:t>Interpretability, not just prediction: names the residues that drive binding — actionable for design.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263640"/>
            <a:ext cx="12191695" cy="56692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lIns="182880"/>
          <a:lstStyle/>
          <a:p>
            <a:pPr algn="ctr"/>
            <a:r>
              <a:rPr sz="850" b="1">
                <a:solidFill>
                  <a:srgbClr val="C8A25A"/>
                </a:solidFill>
                <a:latin typeface="Palatino Linotype"/>
              </a:rPr>
              <a:t>STRUCTURE  </a:t>
            </a:r>
            <a:r>
              <a:rPr sz="850">
                <a:solidFill>
                  <a:srgbClr val="E8E8E8"/>
                </a:solidFill>
                <a:latin typeface="Consolas"/>
              </a:rPr>
              <a:t>sensitivity map: np.ndarray [10 positions × 20 AAs] · WT CDRH3: str (len 10) · uses one-hot MLP</a:t>
            </a:r>
          </a:p>
          <a:p>
            <a:r>
              <a:rPr sz="850" b="1">
                <a:solidFill>
                  <a:srgbClr val="C8A25A"/>
                </a:solidFill>
                <a:latin typeface="Palatino Linotype"/>
              </a:rPr>
              <a:t>TYPE  </a:t>
            </a:r>
            <a:r>
              <a:rPr sz="850">
                <a:solidFill>
                  <a:srgbClr val="E8E8E8"/>
                </a:solidFill>
                <a:latin typeface="Consolas"/>
              </a:rPr>
              <a:t>P(binder): float in [0,1] per (pos, AA) · sensitivity: float = spread of P over the 20 substitutions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